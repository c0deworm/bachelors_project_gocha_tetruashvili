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embeddedFontLst>
    <p:embeddedFont>
      <p:font typeface="Syne Bold" panose="020B0604020202020204" charset="0"/>
      <p:regular r:id="rId14"/>
    </p:embeddedFont>
    <p:embeddedFont>
      <p:font typeface="Calibri Light" panose="020F0302020204030204" pitchFamily="34" charset="0"/>
      <p:regular r:id="rId15"/>
      <p:italic r:id="rId16"/>
    </p:embeddedFont>
    <p:embeddedFont>
      <p:font typeface="Syne" panose="020B0604020202020204" charset="0"/>
      <p:regular r:id="rId17"/>
    </p:embeddedFont>
    <p:embeddedFont>
      <p:font typeface="Calibri" panose="020F0502020204030204" pitchFamily="34" charset="0"/>
      <p:regular r:id="rId18"/>
      <p:bold r:id="rId19"/>
      <p:italic r:id="rId20"/>
      <p:boldItalic r:id="rId21"/>
    </p:embeddedFont>
    <p:embeddedFont>
      <p:font typeface="Syne ExtraBold" panose="020B0604020202020204" charset="0"/>
      <p:regular r:id="rId22"/>
    </p:embeddedFont>
    <p:embeddedFont>
      <p:font typeface="Sylfaen" panose="010A0502050306030303" pitchFamily="18" charset="0"/>
      <p:regular r:id="rId23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41E2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216" d="100"/>
          <a:sy n="216" d="100"/>
        </p:scale>
        <p:origin x="204" y="1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859000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52025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-4-6.svg"/><Relationship Id="rId3" Type="http://schemas.openxmlformats.org/officeDocument/2006/relationships/image" Target="../media/image9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-4-4.svg"/><Relationship Id="rId5" Type="http://schemas.openxmlformats.org/officeDocument/2006/relationships/image" Target="../media/image10.png"/><Relationship Id="rId10" Type="http://schemas.openxmlformats.org/officeDocument/2006/relationships/image" Target="../media/image-4-8.svg"/><Relationship Id="rId4" Type="http://schemas.openxmlformats.org/officeDocument/2006/relationships/image" Target="../media/image-4-2.svg"/><Relationship Id="rId9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-7-2.svg"/><Relationship Id="rId3" Type="http://schemas.openxmlformats.org/officeDocument/2006/relationships/image" Target="../media/image13.png"/><Relationship Id="rId12" Type="http://schemas.openxmlformats.org/officeDocument/2006/relationships/image" Target="../media/image-7-10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-7-2.svg"/><Relationship Id="rId5" Type="http://schemas.openxmlformats.org/officeDocument/2006/relationships/image" Target="../media/image-7-2.svg"/><Relationship Id="rId10" Type="http://schemas.openxmlformats.org/officeDocument/2006/relationships/image" Target="../media/image-7-10.svg"/><Relationship Id="rId4" Type="http://schemas.openxmlformats.org/officeDocument/2006/relationships/image" Target="../media/image-7-2.svg"/><Relationship Id="rId9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-11-2.svg"/><Relationship Id="rId13" Type="http://schemas.openxmlformats.org/officeDocument/2006/relationships/image" Target="../media/image20.png"/><Relationship Id="rId3" Type="http://schemas.openxmlformats.org/officeDocument/2006/relationships/image" Target="../media/image19.png"/><Relationship Id="rId12" Type="http://schemas.openxmlformats.org/officeDocument/2006/relationships/image" Target="../media/image-11-2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-11-2.svg"/><Relationship Id="rId5" Type="http://schemas.openxmlformats.org/officeDocument/2006/relationships/image" Target="../media/image-11-2.svg"/><Relationship Id="rId10" Type="http://schemas.openxmlformats.org/officeDocument/2006/relationships/image" Target="../media/image-11-2.svg"/><Relationship Id="rId4" Type="http://schemas.openxmlformats.org/officeDocument/2006/relationships/image" Target="../media/image-11-2.svg"/><Relationship Id="rId14" Type="http://schemas.openxmlformats.org/officeDocument/2006/relationships/hyperlink" Target="https://github.com/C0deWorm/Bachelors_Project_Gocha_Tetruashvili.git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29000" cy="5143500"/>
          </a:xfrm>
          <a:prstGeom prst="rect">
            <a:avLst/>
          </a:prstGeom>
          <a:solidFill>
            <a:srgbClr val="547808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87" y="368424"/>
            <a:ext cx="3304952" cy="440665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925119" y="1314078"/>
            <a:ext cx="4722763" cy="11626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>
              <a:lnSpc>
                <a:spcPct val="104000"/>
              </a:lnSpc>
            </a:pPr>
            <a:r>
              <a:rPr lang="en-US" sz="2400">
                <a:solidFill>
                  <a:srgbClr val="F0F4F1"/>
                </a:solidFill>
                <a:latin typeface="+mj-lt"/>
                <a:ea typeface="Syne ExtraBold" pitchFamily="34" charset="-122"/>
                <a:cs typeface="Syne ExtraBold" pitchFamily="34" charset="-120"/>
              </a:rPr>
              <a:t>D</a:t>
            </a:r>
            <a:r>
              <a:rPr lang="en-US" sz="2400" smtClean="0">
                <a:solidFill>
                  <a:srgbClr val="F0F4F1"/>
                </a:solidFill>
                <a:latin typeface="+mj-lt"/>
                <a:ea typeface="Syne ExtraBold" pitchFamily="34" charset="-122"/>
                <a:cs typeface="Syne ExtraBold" pitchFamily="34" charset="-120"/>
              </a:rPr>
              <a:t>ata Warehouse </a:t>
            </a:r>
            <a:r>
              <a:rPr lang="en-US" sz="2400">
                <a:solidFill>
                  <a:srgbClr val="F0F4F1"/>
                </a:solidFill>
                <a:latin typeface="+mj-lt"/>
                <a:ea typeface="Syne ExtraBold" pitchFamily="34" charset="-122"/>
                <a:cs typeface="Syne ExtraBold" pitchFamily="34" charset="-120"/>
              </a:rPr>
              <a:t>- </a:t>
            </a:r>
            <a:r>
              <a:rPr lang="ka-GE" sz="2400">
                <a:solidFill>
                  <a:srgbClr val="F0F4F1"/>
                </a:solidFill>
                <a:latin typeface="+mj-lt"/>
                <a:ea typeface="Syne ExtraBold" pitchFamily="34" charset="-122"/>
                <a:cs typeface="Syne ExtraBold" pitchFamily="34" charset="-120"/>
              </a:rPr>
              <a:t>ის დიზაინი და</a:t>
            </a:r>
          </a:p>
          <a:p>
            <a:pPr>
              <a:lnSpc>
                <a:spcPct val="104000"/>
              </a:lnSpc>
            </a:pPr>
            <a:r>
              <a:rPr lang="ka-GE" sz="2400">
                <a:solidFill>
                  <a:srgbClr val="F0F4F1"/>
                </a:solidFill>
                <a:latin typeface="+mj-lt"/>
                <a:ea typeface="Syne ExtraBold" pitchFamily="34" charset="-122"/>
                <a:cs typeface="Syne ExtraBold" pitchFamily="34" charset="-120"/>
              </a:rPr>
              <a:t>არქიტექტურა სრული მონაცემების</a:t>
            </a:r>
          </a:p>
          <a:p>
            <a:pPr>
              <a:lnSpc>
                <a:spcPct val="104000"/>
              </a:lnSpc>
            </a:pPr>
            <a:r>
              <a:rPr lang="ka-GE" sz="2400">
                <a:solidFill>
                  <a:srgbClr val="F0F4F1"/>
                </a:solidFill>
                <a:latin typeface="+mj-lt"/>
                <a:ea typeface="Syne ExtraBold" pitchFamily="34" charset="-122"/>
                <a:cs typeface="Syne ExtraBold" pitchFamily="34" charset="-120"/>
              </a:rPr>
              <a:t>შეტვირთვით</a:t>
            </a:r>
            <a:endParaRPr lang="en-US" sz="2400" dirty="0">
              <a:latin typeface="+mj-lt"/>
            </a:endParaRPr>
          </a:p>
        </p:txBody>
      </p:sp>
      <p:sp>
        <p:nvSpPr>
          <p:cNvPr id="5" name="Text 2"/>
          <p:cNvSpPr/>
          <p:nvPr/>
        </p:nvSpPr>
        <p:spPr>
          <a:xfrm>
            <a:off x="7810787" y="4125683"/>
            <a:ext cx="1333214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ka-GE" sz="950" smtClean="0">
                <a:solidFill>
                  <a:srgbClr val="D7E5D8"/>
                </a:solidFill>
                <a:latin typeface="+mj-lt"/>
              </a:rPr>
              <a:t>საბკალავრო ნაშრომის</a:t>
            </a:r>
            <a:r>
              <a:rPr lang="ka-GE" sz="950" smtClean="0">
                <a:solidFill>
                  <a:srgbClr val="D7E5D8"/>
                </a:solidFill>
                <a:latin typeface="+mj-lt"/>
              </a:rPr>
              <a:t> ავტორი:</a:t>
            </a:r>
            <a:br>
              <a:rPr lang="ka-GE" sz="950" smtClean="0">
                <a:solidFill>
                  <a:srgbClr val="D7E5D8"/>
                </a:solidFill>
                <a:latin typeface="+mj-lt"/>
              </a:rPr>
            </a:br>
            <a:r>
              <a:rPr lang="ka-GE" sz="950" smtClean="0">
                <a:solidFill>
                  <a:srgbClr val="D7E5D8"/>
                </a:solidFill>
                <a:latin typeface="+mj-lt"/>
              </a:rPr>
              <a:t>გოჩა თეთრუაშვილი</a:t>
            </a:r>
            <a:endParaRPr lang="en-US" sz="950" dirty="0">
              <a:latin typeface="+mj-lt"/>
            </a:endParaRPr>
          </a:p>
        </p:txBody>
      </p:sp>
      <p:sp>
        <p:nvSpPr>
          <p:cNvPr id="8" name="Shape 5"/>
          <p:cNvSpPr/>
          <p:nvPr/>
        </p:nvSpPr>
        <p:spPr>
          <a:xfrm>
            <a:off x="4749180" y="3596134"/>
            <a:ext cx="803746" cy="233214"/>
          </a:xfrm>
          <a:prstGeom prst="roundRect">
            <a:avLst>
              <a:gd name="adj" fmla="val 17872"/>
            </a:avLst>
          </a:prstGeom>
          <a:noFill/>
          <a:ln/>
          <a:effectLst>
            <a:outerShdw blurRad="101600" dist="50800" dir="16200000" algn="bl" rotWithShape="0">
              <a:srgbClr val="A9F00F">
                <a:alpha val="10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614913" y="3596134"/>
            <a:ext cx="991716" cy="233214"/>
          </a:xfrm>
          <a:prstGeom prst="roundRect">
            <a:avLst>
              <a:gd name="adj" fmla="val 17872"/>
            </a:avLst>
          </a:prstGeom>
          <a:noFill/>
          <a:ln/>
          <a:effectLst>
            <a:outerShdw blurRad="101600" dist="50800" dir="16200000" algn="bl" rotWithShape="0">
              <a:srgbClr val="A9F00F">
                <a:alpha val="10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668616" y="3596134"/>
            <a:ext cx="592336" cy="233214"/>
          </a:xfrm>
          <a:prstGeom prst="roundRect">
            <a:avLst>
              <a:gd name="adj" fmla="val 17872"/>
            </a:avLst>
          </a:prstGeom>
          <a:noFill/>
          <a:ln/>
          <a:effectLst>
            <a:outerShdw blurRad="101600" dist="50800" dir="16200000" algn="bl" rotWithShape="0">
              <a:srgbClr val="A9F00F">
                <a:alpha val="100000"/>
              </a:srgbClr>
            </a:outerShdw>
          </a:effectLst>
        </p:spPr>
      </p:sp>
      <p:sp>
        <p:nvSpPr>
          <p:cNvPr id="14" name="Rectangle 13"/>
          <p:cNvSpPr/>
          <p:nvPr/>
        </p:nvSpPr>
        <p:spPr>
          <a:xfrm>
            <a:off x="7801113" y="4735320"/>
            <a:ext cx="1298713" cy="368424"/>
          </a:xfrm>
          <a:prstGeom prst="rect">
            <a:avLst/>
          </a:prstGeom>
          <a:solidFill>
            <a:srgbClr val="141E24"/>
          </a:solidFill>
          <a:ln>
            <a:solidFill>
              <a:srgbClr val="141E2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313631"/>
            <a:ext cx="3558332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F0F4F1"/>
                </a:solidFill>
                <a:latin typeface="+mj-lt"/>
                <a:ea typeface="Syne ExtraBold" pitchFamily="34" charset="-122"/>
                <a:cs typeface="Syne ExtraBold" pitchFamily="34" charset="-120"/>
              </a:rPr>
              <a:t>პროექტის მიზანი</a:t>
            </a:r>
            <a:endParaRPr lang="en-US" sz="2400" dirty="0">
              <a:latin typeface="+mj-lt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06822" y="1887215"/>
            <a:ext cx="4103191" cy="1942654"/>
          </a:xfrm>
          <a:prstGeom prst="roundRect">
            <a:avLst>
              <a:gd name="adj" fmla="val 4597"/>
            </a:avLst>
          </a:prstGeom>
          <a:solidFill>
            <a:srgbClr val="111A23">
              <a:alpha val="9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30796" y="2011189"/>
            <a:ext cx="20077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F0F4F1"/>
                </a:solidFill>
                <a:latin typeface="+mj-lt"/>
                <a:ea typeface="Syne ExtraBold" pitchFamily="34" charset="-122"/>
                <a:cs typeface="Syne ExtraBold" pitchFamily="34" charset="-120"/>
              </a:rPr>
              <a:t>პრობლემა</a:t>
            </a:r>
            <a:endParaRPr lang="en-US" sz="1200" dirty="0">
              <a:latin typeface="+mj-lt"/>
            </a:endParaRPr>
          </a:p>
        </p:txBody>
      </p:sp>
      <p:sp>
        <p:nvSpPr>
          <p:cNvPr id="5" name="Text 3"/>
          <p:cNvSpPr/>
          <p:nvPr/>
        </p:nvSpPr>
        <p:spPr>
          <a:xfrm>
            <a:off x="530796" y="2329011"/>
            <a:ext cx="3855244" cy="11907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D7E5D8"/>
                </a:solidFill>
                <a:latin typeface="+mj-lt"/>
                <a:ea typeface="Syne" pitchFamily="34" charset="-122"/>
                <a:cs typeface="Syne" pitchFamily="34" charset="-120"/>
              </a:rPr>
              <a:t>ონლაინ და ოფლაინ გაყიდვების დატა სორსები განსხვავდება და შეიცავს სპეციფიკურ ატრიბუტებს. მათი პირდაპირი გამოყენება ანალიტიკისთვის რთულია — სორსები ერთმანეთისგან განსხვავებული სტრუქტურა აქვთ, თუმცა მსგავსი ველები შეიცავენ. ამიტომ PowerBI რეპორტი სორს დატებთან პირდაპირი კავშირით ვერ შეიქმნება.</a:t>
            </a:r>
            <a:endParaRPr lang="en-US" sz="950" dirty="0">
              <a:latin typeface="+mj-lt"/>
            </a:endParaRPr>
          </a:p>
        </p:txBody>
      </p:sp>
      <p:sp>
        <p:nvSpPr>
          <p:cNvPr id="6" name="Text 4"/>
          <p:cNvSpPr/>
          <p:nvPr/>
        </p:nvSpPr>
        <p:spPr>
          <a:xfrm>
            <a:off x="4728046" y="2011189"/>
            <a:ext cx="20077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F0F4F1"/>
                </a:solidFill>
                <a:latin typeface="+mj-lt"/>
                <a:ea typeface="Syne ExtraBold" pitchFamily="34" charset="-122"/>
                <a:cs typeface="Syne ExtraBold" pitchFamily="34" charset="-120"/>
              </a:rPr>
              <a:t>გადაწყვეტა</a:t>
            </a:r>
            <a:endParaRPr lang="en-US" sz="1200" dirty="0">
              <a:latin typeface="+mj-lt"/>
            </a:endParaRPr>
          </a:p>
        </p:txBody>
      </p:sp>
      <p:sp>
        <p:nvSpPr>
          <p:cNvPr id="7" name="Text 5"/>
          <p:cNvSpPr/>
          <p:nvPr/>
        </p:nvSpPr>
        <p:spPr>
          <a:xfrm>
            <a:off x="4728046" y="2329011"/>
            <a:ext cx="3924598" cy="1389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D7E5D8"/>
                </a:solidFill>
                <a:latin typeface="+mj-lt"/>
                <a:ea typeface="Syne" pitchFamily="34" charset="-122"/>
                <a:cs typeface="Syne" pitchFamily="34" charset="-120"/>
              </a:rPr>
              <a:t>მონაცემები ჯერ </a:t>
            </a:r>
            <a:r>
              <a:rPr lang="en-US" sz="950" b="1" dirty="0">
                <a:solidFill>
                  <a:srgbClr val="D7E5D8"/>
                </a:solidFill>
                <a:latin typeface="+mj-lt"/>
                <a:ea typeface="Syne Bold" pitchFamily="34" charset="-122"/>
                <a:cs typeface="Syne Bold" pitchFamily="34" charset="-120"/>
              </a:rPr>
              <a:t>3NF ფენაში</a:t>
            </a:r>
            <a:r>
              <a:rPr lang="en-US" sz="950" dirty="0">
                <a:solidFill>
                  <a:srgbClr val="D7E5D8"/>
                </a:solidFill>
                <a:latin typeface="+mj-lt"/>
                <a:ea typeface="Syne" pitchFamily="34" charset="-122"/>
                <a:cs typeface="Syne" pitchFamily="34" charset="-120"/>
              </a:rPr>
              <a:t> გადაგვყავს, სადაც „იწმინდება" და ნორმალიზდება, შემდეგ </a:t>
            </a:r>
            <a:r>
              <a:rPr lang="en-US" sz="950" b="1" dirty="0">
                <a:solidFill>
                  <a:srgbClr val="D7E5D8"/>
                </a:solidFill>
                <a:latin typeface="+mj-lt"/>
                <a:ea typeface="Syne Bold" pitchFamily="34" charset="-122"/>
                <a:cs typeface="Syne Bold" pitchFamily="34" charset="-120"/>
              </a:rPr>
              <a:t>Dimension Layer-ში</a:t>
            </a:r>
            <a:r>
              <a:rPr lang="en-US" sz="950" dirty="0">
                <a:solidFill>
                  <a:srgbClr val="D7E5D8"/>
                </a:solidFill>
                <a:latin typeface="+mj-lt"/>
                <a:ea typeface="Syne" pitchFamily="34" charset="-122"/>
                <a:cs typeface="Syne" pitchFamily="34" charset="-120"/>
              </a:rPr>
              <a:t> — Star სქემაში, რომელიც ოპტიმიზირებულია ანალიტიკისთვის. ამ გარდაქმნილ და სტრუქტურირებულ მონაცემებს უკვე ვაკავშირებთ PowerBI-სთან ანალიტიკური რეპორტის შესაქმნელად გაყიდვების, პროდუქტებისა და თანამშრომლების ანალიზისთვის.</a:t>
            </a:r>
            <a:endParaRPr lang="en-US" sz="950" dirty="0">
              <a:latin typeface="+mj-lt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801113" y="4735320"/>
            <a:ext cx="1298713" cy="368424"/>
          </a:xfrm>
          <a:prstGeom prst="rect">
            <a:avLst/>
          </a:prstGeom>
          <a:solidFill>
            <a:srgbClr val="141E24"/>
          </a:solidFill>
          <a:ln>
            <a:solidFill>
              <a:srgbClr val="141E2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15000" y="0"/>
            <a:ext cx="3429000" cy="5143500"/>
          </a:xfrm>
          <a:prstGeom prst="rect">
            <a:avLst/>
          </a:prstGeom>
          <a:solidFill>
            <a:srgbClr val="547808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7313" y="355476"/>
            <a:ext cx="3324299" cy="443247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360015"/>
            <a:ext cx="3073747" cy="327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50" dirty="0">
                <a:solidFill>
                  <a:srgbClr val="F0F4F1"/>
                </a:solidFill>
                <a:latin typeface="+mj-lt"/>
                <a:ea typeface="Syne ExtraBold" pitchFamily="34" charset="-122"/>
                <a:cs typeface="Syne ExtraBold" pitchFamily="34" charset="-120"/>
              </a:rPr>
              <a:t>არქიტექტურა</a:t>
            </a:r>
            <a:endParaRPr lang="en-US" sz="2050" dirty="0">
              <a:latin typeface="+mj-lt"/>
            </a:endParaRPr>
          </a:p>
        </p:txBody>
      </p:sp>
      <p:sp>
        <p:nvSpPr>
          <p:cNvPr id="5" name="Text 2"/>
          <p:cNvSpPr/>
          <p:nvPr/>
        </p:nvSpPr>
        <p:spPr>
          <a:xfrm>
            <a:off x="496119" y="819522"/>
            <a:ext cx="4722763" cy="6176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800" dirty="0">
                <a:solidFill>
                  <a:srgbClr val="D7E5D8"/>
                </a:solidFill>
                <a:latin typeface="+mj-lt"/>
                <a:ea typeface="Syne" pitchFamily="34" charset="-122"/>
                <a:cs typeface="Syne" pitchFamily="34" charset="-120"/>
              </a:rPr>
              <a:t>პროექტი დაყოფილია ოთხ ეტაპად: პირველ რიგში იტვირთება CSV ფაილები, შემდეგ მონაცემები გარდაიქმნება 3NF მონაცემთა ბაზაში, გადადის DM განზომილებაში და ბოლოს ვიზუალიზდება PowerBI რეპორტში. თითოეულ ფენას თავისი როლი აქვს მონაცემთა ნაკადში.</a:t>
            </a:r>
            <a:endParaRPr lang="en-US" sz="800" dirty="0">
              <a:latin typeface="+mj-lt"/>
            </a:endParaRPr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119" y="1536502"/>
            <a:ext cx="523280" cy="8889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07653" y="1641128"/>
            <a:ext cx="1308274" cy="16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D7E5D8"/>
                </a:solidFill>
                <a:latin typeface="+mj-lt"/>
                <a:ea typeface="Syne ExtraBold" pitchFamily="34" charset="-122"/>
                <a:cs typeface="Syne ExtraBold" pitchFamily="34" charset="-120"/>
              </a:rPr>
              <a:t>Source</a:t>
            </a:r>
            <a:endParaRPr lang="en-US" sz="1000" dirty="0">
              <a:latin typeface="+mj-lt"/>
            </a:endParaRPr>
          </a:p>
        </p:txBody>
      </p:sp>
      <p:sp>
        <p:nvSpPr>
          <p:cNvPr id="8" name="Text 4"/>
          <p:cNvSpPr/>
          <p:nvPr/>
        </p:nvSpPr>
        <p:spPr>
          <a:xfrm>
            <a:off x="1107653" y="1857598"/>
            <a:ext cx="4111228" cy="4632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800" dirty="0">
                <a:solidFill>
                  <a:srgbClr val="D7E5D8"/>
                </a:solidFill>
                <a:latin typeface="+mj-lt"/>
                <a:ea typeface="Syne" pitchFamily="34" charset="-122"/>
                <a:cs typeface="Syne" pitchFamily="34" charset="-120"/>
              </a:rPr>
              <a:t>ინახავს ორიგინალ სორს დატას — offline და online CSV ფაილებს, რომლებიც შეიცავს მსგავს სტრუქტურას, მაგრამ გაყიდვის არხისთვის სპეციფიკურ ატრიბუტებს</a:t>
            </a:r>
            <a:endParaRPr lang="en-US" sz="800" dirty="0">
              <a:latin typeface="+mj-lt"/>
            </a:endParaRPr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6119" y="2425452"/>
            <a:ext cx="523280" cy="73454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107653" y="2530078"/>
            <a:ext cx="1308274" cy="16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D7E5D8"/>
                </a:solidFill>
                <a:latin typeface="+mj-lt"/>
                <a:ea typeface="Syne ExtraBold" pitchFamily="34" charset="-122"/>
                <a:cs typeface="Syne ExtraBold" pitchFamily="34" charset="-120"/>
              </a:rPr>
              <a:t>3NF Layer</a:t>
            </a:r>
            <a:endParaRPr lang="en-US" sz="1000" dirty="0">
              <a:latin typeface="+mj-lt"/>
            </a:endParaRPr>
          </a:p>
        </p:txBody>
      </p:sp>
      <p:sp>
        <p:nvSpPr>
          <p:cNvPr id="11" name="Text 6"/>
          <p:cNvSpPr/>
          <p:nvPr/>
        </p:nvSpPr>
        <p:spPr>
          <a:xfrm>
            <a:off x="1107653" y="2746549"/>
            <a:ext cx="4111228" cy="3088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800" dirty="0">
                <a:solidFill>
                  <a:srgbClr val="D7E5D8"/>
                </a:solidFill>
                <a:latin typeface="+mj-lt"/>
                <a:ea typeface="Syne" pitchFamily="34" charset="-122"/>
                <a:cs typeface="Syne" pitchFamily="34" charset="-120"/>
              </a:rPr>
              <a:t>ნორმალიზებულ ფორმაში ინახავს და წმენდს მონაცემებს — ახდენს დედუპლიკაციას და სტრუქტურირებას ანალიტიკისთვის</a:t>
            </a:r>
            <a:endParaRPr lang="en-US" sz="800" dirty="0">
              <a:latin typeface="+mj-lt"/>
            </a:endParaRPr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6119" y="3159993"/>
            <a:ext cx="523280" cy="734541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107653" y="3264619"/>
            <a:ext cx="1736675" cy="16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D7E5D8"/>
                </a:solidFill>
                <a:latin typeface="+mj-lt"/>
                <a:ea typeface="Syne ExtraBold" pitchFamily="34" charset="-122"/>
                <a:cs typeface="Syne ExtraBold" pitchFamily="34" charset="-120"/>
              </a:rPr>
              <a:t>Dimension Layer</a:t>
            </a:r>
            <a:endParaRPr lang="en-US" sz="1000" dirty="0">
              <a:latin typeface="+mj-lt"/>
            </a:endParaRPr>
          </a:p>
        </p:txBody>
      </p:sp>
      <p:sp>
        <p:nvSpPr>
          <p:cNvPr id="14" name="Text 8"/>
          <p:cNvSpPr/>
          <p:nvPr/>
        </p:nvSpPr>
        <p:spPr>
          <a:xfrm>
            <a:off x="1107653" y="3481090"/>
            <a:ext cx="4111228" cy="3088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800" dirty="0">
                <a:solidFill>
                  <a:srgbClr val="D7E5D8"/>
                </a:solidFill>
                <a:latin typeface="+mj-lt"/>
                <a:ea typeface="Syne" pitchFamily="34" charset="-122"/>
                <a:cs typeface="Syne" pitchFamily="34" charset="-120"/>
              </a:rPr>
              <a:t>გადააქვს ინფორმაცია Star სქემაში, რომელიც ოპტიმიზირებულია ანალიტიკისთვის და უშუალოდ უკავშირდება PowerBI-ს</a:t>
            </a:r>
            <a:endParaRPr lang="en-US" sz="800" dirty="0">
              <a:latin typeface="+mj-lt"/>
            </a:endParaRPr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6119" y="3894534"/>
            <a:ext cx="523280" cy="88895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107653" y="3999161"/>
            <a:ext cx="1308274" cy="16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D7E5D8"/>
                </a:solidFill>
                <a:latin typeface="+mj-lt"/>
                <a:ea typeface="Syne ExtraBold" pitchFamily="34" charset="-122"/>
                <a:cs typeface="Syne ExtraBold" pitchFamily="34" charset="-120"/>
              </a:rPr>
              <a:t>PowerBI</a:t>
            </a:r>
            <a:endParaRPr lang="en-US" sz="1000" dirty="0">
              <a:latin typeface="+mj-lt"/>
            </a:endParaRPr>
          </a:p>
        </p:txBody>
      </p:sp>
      <p:sp>
        <p:nvSpPr>
          <p:cNvPr id="17" name="Text 10"/>
          <p:cNvSpPr/>
          <p:nvPr/>
        </p:nvSpPr>
        <p:spPr>
          <a:xfrm>
            <a:off x="1107653" y="4215631"/>
            <a:ext cx="4111228" cy="4632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800" dirty="0">
                <a:solidFill>
                  <a:srgbClr val="D7E5D8"/>
                </a:solidFill>
                <a:latin typeface="+mj-lt"/>
                <a:ea typeface="Syne" pitchFamily="34" charset="-122"/>
                <a:cs typeface="Syne" pitchFamily="34" charset="-120"/>
              </a:rPr>
              <a:t>კავშირდება Dimensional მოდელთან და გვაძლევს საშუალებას შევქმნათ ანალიტიკური დეშბორდი გაყიდვების, პროდუქტებისა და თანამშრომლების ანალიზისთვის</a:t>
            </a:r>
            <a:endParaRPr lang="en-US" sz="800" dirty="0">
              <a:latin typeface="+mj-l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76312"/>
            <a:ext cx="5483051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F0F4F1"/>
                </a:solidFill>
                <a:latin typeface="+mj-lt"/>
                <a:ea typeface="Syne ExtraBold" pitchFamily="34" charset="-122"/>
                <a:cs typeface="Syne ExtraBold" pitchFamily="34" charset="-120"/>
              </a:rPr>
              <a:t>გამოყენებული ტექნოლოგიები</a:t>
            </a:r>
            <a:endParaRPr lang="en-US" sz="2400" dirty="0">
              <a:latin typeface="+mj-lt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96119" y="1011882"/>
            <a:ext cx="4013895" cy="1815629"/>
          </a:xfrm>
          <a:prstGeom prst="roundRect">
            <a:avLst>
              <a:gd name="adj" fmla="val 2870"/>
            </a:avLst>
          </a:prstGeom>
          <a:solidFill>
            <a:srgbClr val="547808"/>
          </a:solidFill>
          <a:ln w="4763">
            <a:solidFill>
              <a:srgbClr val="6D912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4855" y="1140619"/>
            <a:ext cx="372070" cy="372070"/>
          </a:xfrm>
          <a:prstGeom prst="ellipse">
            <a:avLst/>
          </a:prstGeom>
          <a:solidFill>
            <a:srgbClr val="A9F00F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727174" y="1242864"/>
            <a:ext cx="167432" cy="1674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24855" y="1636663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+mj-lt"/>
                <a:ea typeface="Syne ExtraBold" pitchFamily="34" charset="-122"/>
                <a:cs typeface="Syne ExtraBold" pitchFamily="34" charset="-120"/>
              </a:rPr>
              <a:t>PostgreSQL</a:t>
            </a:r>
            <a:endParaRPr lang="en-US" sz="1200" dirty="0">
              <a:latin typeface="+mj-lt"/>
            </a:endParaRPr>
          </a:p>
        </p:txBody>
      </p:sp>
      <p:sp>
        <p:nvSpPr>
          <p:cNvPr id="7" name="Text 4"/>
          <p:cNvSpPr/>
          <p:nvPr/>
        </p:nvSpPr>
        <p:spPr>
          <a:xfrm>
            <a:off x="624855" y="1904926"/>
            <a:ext cx="3756422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+mj-lt"/>
                <a:ea typeface="Syne" pitchFamily="34" charset="-122"/>
                <a:cs typeface="Syne" pitchFamily="34" charset="-120"/>
              </a:rPr>
              <a:t>მთავარი მონაცემთა ბაზა ETL პროცესებისთვის — ინახავს როგორც სორს დატას, ასევე 3NF და Dimensional ფენებს. გამოიყენება მონაცემთა ნორმალიზაციისა და გარდაქმნისთვის.</a:t>
            </a:r>
            <a:endParaRPr lang="en-US" sz="950" dirty="0">
              <a:latin typeface="+mj-lt"/>
            </a:endParaRPr>
          </a:p>
        </p:txBody>
      </p:sp>
      <p:sp>
        <p:nvSpPr>
          <p:cNvPr id="8" name="Shape 5"/>
          <p:cNvSpPr/>
          <p:nvPr/>
        </p:nvSpPr>
        <p:spPr>
          <a:xfrm>
            <a:off x="4633987" y="1011882"/>
            <a:ext cx="4013895" cy="1815629"/>
          </a:xfrm>
          <a:prstGeom prst="roundRect">
            <a:avLst>
              <a:gd name="adj" fmla="val 2870"/>
            </a:avLst>
          </a:prstGeom>
          <a:solidFill>
            <a:srgbClr val="547808"/>
          </a:solidFill>
          <a:ln w="4763">
            <a:solidFill>
              <a:srgbClr val="6D9121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762723" y="1140619"/>
            <a:ext cx="372070" cy="372070"/>
          </a:xfrm>
          <a:prstGeom prst="ellipse">
            <a:avLst/>
          </a:prstGeom>
          <a:solidFill>
            <a:srgbClr val="A9F00F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4865043" y="1242864"/>
            <a:ext cx="167432" cy="16743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762723" y="1636663"/>
            <a:ext cx="1868165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+mj-lt"/>
                <a:ea typeface="Syne ExtraBold" pitchFamily="34" charset="-122"/>
                <a:cs typeface="Syne ExtraBold" pitchFamily="34" charset="-120"/>
              </a:rPr>
              <a:t>SQL / PLpgSQL</a:t>
            </a:r>
            <a:endParaRPr lang="en-US" sz="1200" dirty="0">
              <a:latin typeface="+mj-lt"/>
            </a:endParaRPr>
          </a:p>
        </p:txBody>
      </p:sp>
      <p:sp>
        <p:nvSpPr>
          <p:cNvPr id="12" name="Text 8"/>
          <p:cNvSpPr/>
          <p:nvPr/>
        </p:nvSpPr>
        <p:spPr>
          <a:xfrm>
            <a:off x="4762723" y="1904926"/>
            <a:ext cx="3756422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+mj-lt"/>
                <a:ea typeface="Syne" pitchFamily="34" charset="-122"/>
                <a:cs typeface="Syne" pitchFamily="34" charset="-120"/>
              </a:rPr>
              <a:t>ETL პროცედურები, DDL სკრიპტები და ტრანზაქციული ლოგიკა. გამოიყენება მონაცემთა წმენდის, დედუპლიკაციის, შეტვირთვისა და Dimensional მოდელის შესაქმნელად.</a:t>
            </a:r>
            <a:endParaRPr lang="en-US" sz="950" dirty="0">
              <a:latin typeface="+mj-lt"/>
            </a:endParaRPr>
          </a:p>
        </p:txBody>
      </p:sp>
      <p:sp>
        <p:nvSpPr>
          <p:cNvPr id="13" name="Shape 9"/>
          <p:cNvSpPr/>
          <p:nvPr/>
        </p:nvSpPr>
        <p:spPr>
          <a:xfrm>
            <a:off x="496119" y="2951485"/>
            <a:ext cx="4013895" cy="1815629"/>
          </a:xfrm>
          <a:prstGeom prst="roundRect">
            <a:avLst>
              <a:gd name="adj" fmla="val 2870"/>
            </a:avLst>
          </a:prstGeom>
          <a:solidFill>
            <a:srgbClr val="547808"/>
          </a:solidFill>
          <a:ln w="4763">
            <a:solidFill>
              <a:srgbClr val="6D9121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24855" y="3080221"/>
            <a:ext cx="372070" cy="372070"/>
          </a:xfrm>
          <a:prstGeom prst="ellipse">
            <a:avLst/>
          </a:prstGeom>
          <a:solidFill>
            <a:srgbClr val="A9F00F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xmlns="" r:embed="rId8"/>
              </a:ext>
            </a:extLst>
          </a:blip>
          <a:stretch>
            <a:fillRect/>
          </a:stretch>
        </p:blipFill>
        <p:spPr>
          <a:xfrm>
            <a:off x="727174" y="3182466"/>
            <a:ext cx="167432" cy="16743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24855" y="3576265"/>
            <a:ext cx="159625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+mj-lt"/>
                <a:ea typeface="Syne ExtraBold" pitchFamily="34" charset="-122"/>
                <a:cs typeface="Syne ExtraBold" pitchFamily="34" charset="-120"/>
              </a:rPr>
              <a:t>CSV დატასეტები</a:t>
            </a:r>
            <a:endParaRPr lang="en-US" sz="1200" dirty="0">
              <a:latin typeface="+mj-lt"/>
            </a:endParaRPr>
          </a:p>
        </p:txBody>
      </p:sp>
      <p:sp>
        <p:nvSpPr>
          <p:cNvPr id="17" name="Text 12"/>
          <p:cNvSpPr/>
          <p:nvPr/>
        </p:nvSpPr>
        <p:spPr>
          <a:xfrm>
            <a:off x="624855" y="3844528"/>
            <a:ext cx="3756422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+mj-lt"/>
                <a:ea typeface="Syne" pitchFamily="34" charset="-122"/>
                <a:cs typeface="Syne" pitchFamily="34" charset="-120"/>
              </a:rPr>
              <a:t>Offline და online გაყიდვების სორს ფაილები, მათ შორის v2 ვერსიები ინკრემენტალური შეტვირთვისთვის. შედარებით ნაკლები დატის შემცველი v2 დატასეტები საშუალებას გვაძლევს დავამტკიცოთ ETL პროცესების სისწორე.</a:t>
            </a:r>
            <a:endParaRPr lang="en-US" sz="950" dirty="0">
              <a:latin typeface="+mj-lt"/>
            </a:endParaRPr>
          </a:p>
        </p:txBody>
      </p:sp>
      <p:sp>
        <p:nvSpPr>
          <p:cNvPr id="18" name="Shape 13"/>
          <p:cNvSpPr/>
          <p:nvPr/>
        </p:nvSpPr>
        <p:spPr>
          <a:xfrm>
            <a:off x="4633987" y="2951485"/>
            <a:ext cx="4013895" cy="1815629"/>
          </a:xfrm>
          <a:prstGeom prst="roundRect">
            <a:avLst>
              <a:gd name="adj" fmla="val 2870"/>
            </a:avLst>
          </a:prstGeom>
          <a:solidFill>
            <a:srgbClr val="547808"/>
          </a:solidFill>
          <a:ln w="4763">
            <a:solidFill>
              <a:srgbClr val="6D9121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4762723" y="3080221"/>
            <a:ext cx="372070" cy="372070"/>
          </a:xfrm>
          <a:prstGeom prst="ellipse">
            <a:avLst/>
          </a:prstGeom>
          <a:solidFill>
            <a:srgbClr val="A9F00F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xmlns="" r:embed="rId10"/>
              </a:ext>
            </a:extLst>
          </a:blip>
          <a:stretch>
            <a:fillRect/>
          </a:stretch>
        </p:blipFill>
        <p:spPr>
          <a:xfrm>
            <a:off x="4865043" y="3182466"/>
            <a:ext cx="167432" cy="16743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4762723" y="3576265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+mj-lt"/>
                <a:ea typeface="Syne ExtraBold" pitchFamily="34" charset="-122"/>
                <a:cs typeface="Syne ExtraBold" pitchFamily="34" charset="-120"/>
              </a:rPr>
              <a:t>PowerBI</a:t>
            </a:r>
            <a:endParaRPr lang="en-US" sz="1200" dirty="0">
              <a:latin typeface="+mj-lt"/>
            </a:endParaRPr>
          </a:p>
        </p:txBody>
      </p:sp>
      <p:sp>
        <p:nvSpPr>
          <p:cNvPr id="22" name="Text 16"/>
          <p:cNvSpPr/>
          <p:nvPr/>
        </p:nvSpPr>
        <p:spPr>
          <a:xfrm>
            <a:off x="4762723" y="3844528"/>
            <a:ext cx="3756422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+mj-lt"/>
                <a:ea typeface="Syne" pitchFamily="34" charset="-122"/>
                <a:cs typeface="Syne" pitchFamily="34" charset="-120"/>
              </a:rPr>
              <a:t>ანალიტიკური რეპორტი და დეშბორდი ბიზნეს მომხმარებლებისთვის. კავშირდება Dimensional მოდელთან და აჩვენებს გაყიდვების, პროდუქტებისა და თანამშრომლების ანალიზს.</a:t>
            </a:r>
            <a:endParaRPr lang="en-US" sz="950" dirty="0">
              <a:latin typeface="+mj-lt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7801113" y="4841528"/>
            <a:ext cx="1298713" cy="262216"/>
          </a:xfrm>
          <a:prstGeom prst="rect">
            <a:avLst/>
          </a:prstGeom>
          <a:solidFill>
            <a:srgbClr val="141E24"/>
          </a:solidFill>
          <a:ln>
            <a:solidFill>
              <a:srgbClr val="141E2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50602"/>
            <a:ext cx="49481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F0F4F1"/>
                </a:solidFill>
                <a:latin typeface="+mj-lt"/>
                <a:ea typeface="Syne ExtraBold" pitchFamily="34" charset="-122"/>
                <a:cs typeface="Syne ExtraBold" pitchFamily="34" charset="-120"/>
              </a:rPr>
              <a:t>ETL Pipeline დიზაინი</a:t>
            </a:r>
            <a:endParaRPr lang="en-US" sz="2400" dirty="0">
              <a:latin typeface="+mj-lt"/>
            </a:endParaRPr>
          </a:p>
        </p:txBody>
      </p:sp>
      <p:sp>
        <p:nvSpPr>
          <p:cNvPr id="3" name="Text 1"/>
          <p:cNvSpPr/>
          <p:nvPr/>
        </p:nvSpPr>
        <p:spPr>
          <a:xfrm>
            <a:off x="496119" y="1286173"/>
            <a:ext cx="248022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D7E5D8"/>
                </a:solidFill>
                <a:latin typeface="+mj-lt"/>
                <a:ea typeface="Syne Light" pitchFamily="34" charset="-122"/>
                <a:cs typeface="Syne Light" pitchFamily="34" charset="-120"/>
              </a:rPr>
              <a:t>01</a:t>
            </a:r>
            <a:endParaRPr lang="en-US" sz="950" dirty="0">
              <a:latin typeface="+mj-lt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96119" y="1482626"/>
            <a:ext cx="2634555" cy="14288"/>
          </a:xfrm>
          <a:prstGeom prst="rect">
            <a:avLst/>
          </a:prstGeom>
          <a:solidFill>
            <a:srgbClr val="A9F00F"/>
          </a:solidFill>
          <a:ln/>
        </p:spPr>
      </p:sp>
      <p:sp>
        <p:nvSpPr>
          <p:cNvPr id="5" name="Text 3"/>
          <p:cNvSpPr/>
          <p:nvPr/>
        </p:nvSpPr>
        <p:spPr>
          <a:xfrm>
            <a:off x="496119" y="1573188"/>
            <a:ext cx="1868909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D7E5D8"/>
                </a:solidFill>
                <a:latin typeface="+mj-lt"/>
                <a:ea typeface="Syne ExtraBold" pitchFamily="34" charset="-122"/>
                <a:cs typeface="Syne ExtraBold" pitchFamily="34" charset="-120"/>
              </a:rPr>
              <a:t>Source დატვირთვა</a:t>
            </a:r>
            <a:endParaRPr lang="en-US" sz="1200" dirty="0">
              <a:latin typeface="+mj-lt"/>
            </a:endParaRPr>
          </a:p>
        </p:txBody>
      </p:sp>
      <p:sp>
        <p:nvSpPr>
          <p:cNvPr id="6" name="Text 4"/>
          <p:cNvSpPr/>
          <p:nvPr/>
        </p:nvSpPr>
        <p:spPr>
          <a:xfrm>
            <a:off x="496119" y="1841450"/>
            <a:ext cx="2634555" cy="992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D7E5D8"/>
                </a:solidFill>
                <a:latin typeface="+mj-lt"/>
                <a:ea typeface="Syne" pitchFamily="34" charset="-122"/>
                <a:cs typeface="Syne" pitchFamily="34" charset="-120"/>
              </a:rPr>
              <a:t>იტვირთება offline და online CSV ფაილები PostgreSQL-ის staging/source ცხრილებში. პირველ რიგში იტვირთება v2 დატასეტები, შემდეგ — დიდი დატასეტები ინკრემენტალური load-ით.</a:t>
            </a:r>
            <a:endParaRPr lang="en-US" sz="950" dirty="0">
              <a:latin typeface="+mj-lt"/>
            </a:endParaRPr>
          </a:p>
        </p:txBody>
      </p:sp>
      <p:sp>
        <p:nvSpPr>
          <p:cNvPr id="7" name="Text 5"/>
          <p:cNvSpPr/>
          <p:nvPr/>
        </p:nvSpPr>
        <p:spPr>
          <a:xfrm>
            <a:off x="3254648" y="1286173"/>
            <a:ext cx="248022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D7E5D8"/>
                </a:solidFill>
                <a:latin typeface="+mj-lt"/>
                <a:ea typeface="Syne Light" pitchFamily="34" charset="-122"/>
                <a:cs typeface="Syne Light" pitchFamily="34" charset="-120"/>
              </a:rPr>
              <a:t>02</a:t>
            </a:r>
            <a:endParaRPr lang="en-US" sz="950" dirty="0">
              <a:latin typeface="+mj-lt"/>
            </a:endParaRPr>
          </a:p>
        </p:txBody>
      </p:sp>
      <p:sp>
        <p:nvSpPr>
          <p:cNvPr id="8" name="Shape 6"/>
          <p:cNvSpPr/>
          <p:nvPr/>
        </p:nvSpPr>
        <p:spPr>
          <a:xfrm>
            <a:off x="3254648" y="1482626"/>
            <a:ext cx="2634630" cy="14288"/>
          </a:xfrm>
          <a:prstGeom prst="rect">
            <a:avLst/>
          </a:prstGeom>
          <a:solidFill>
            <a:srgbClr val="A9F00F"/>
          </a:solidFill>
          <a:ln/>
        </p:spPr>
      </p:sp>
      <p:sp>
        <p:nvSpPr>
          <p:cNvPr id="9" name="Text 7"/>
          <p:cNvSpPr/>
          <p:nvPr/>
        </p:nvSpPr>
        <p:spPr>
          <a:xfrm>
            <a:off x="3254648" y="1573188"/>
            <a:ext cx="2053679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D7E5D8"/>
                </a:solidFill>
                <a:latin typeface="+mj-lt"/>
                <a:ea typeface="Syne ExtraBold" pitchFamily="34" charset="-122"/>
                <a:cs typeface="Syne ExtraBold" pitchFamily="34" charset="-120"/>
              </a:rPr>
              <a:t>3NF DDL სკრიპტები</a:t>
            </a:r>
            <a:endParaRPr lang="en-US" sz="1200" dirty="0">
              <a:latin typeface="+mj-lt"/>
            </a:endParaRPr>
          </a:p>
        </p:txBody>
      </p:sp>
      <p:sp>
        <p:nvSpPr>
          <p:cNvPr id="10" name="Text 8"/>
          <p:cNvSpPr/>
          <p:nvPr/>
        </p:nvSpPr>
        <p:spPr>
          <a:xfrm>
            <a:off x="3254648" y="1841450"/>
            <a:ext cx="2634630" cy="992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D7E5D8"/>
                </a:solidFill>
                <a:latin typeface="+mj-lt"/>
                <a:ea typeface="Syne" pitchFamily="34" charset="-122"/>
                <a:cs typeface="Syne" pitchFamily="34" charset="-120"/>
              </a:rPr>
              <a:t>ეშვება 3NF DDL სკრიპტები მონაცემთა ბაზის შესაქმნელად. ეს სკრიპტები ქმნიან ნორმალიზებულ სტრუქტურას, სადაც მონაცემები შემდგომში „გაიწმინდება".</a:t>
            </a:r>
            <a:endParaRPr lang="en-US" sz="950" dirty="0">
              <a:latin typeface="+mj-lt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013252" y="1286173"/>
            <a:ext cx="248022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D7E5D8"/>
                </a:solidFill>
                <a:latin typeface="+mj-lt"/>
                <a:ea typeface="Syne Light" pitchFamily="34" charset="-122"/>
                <a:cs typeface="Syne Light" pitchFamily="34" charset="-120"/>
              </a:rPr>
              <a:t>03</a:t>
            </a:r>
            <a:endParaRPr lang="en-US" sz="950" dirty="0">
              <a:latin typeface="+mj-lt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013252" y="1482626"/>
            <a:ext cx="2634555" cy="14288"/>
          </a:xfrm>
          <a:prstGeom prst="rect">
            <a:avLst/>
          </a:prstGeom>
          <a:solidFill>
            <a:srgbClr val="A9F00F"/>
          </a:solidFill>
          <a:ln/>
        </p:spPr>
      </p:sp>
      <p:sp>
        <p:nvSpPr>
          <p:cNvPr id="13" name="Text 11"/>
          <p:cNvSpPr/>
          <p:nvPr/>
        </p:nvSpPr>
        <p:spPr>
          <a:xfrm>
            <a:off x="6013252" y="1573188"/>
            <a:ext cx="1745382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D7E5D8"/>
                </a:solidFill>
                <a:latin typeface="+mj-lt"/>
                <a:ea typeface="Syne ExtraBold" pitchFamily="34" charset="-122"/>
                <a:cs typeface="Syne ExtraBold" pitchFamily="34" charset="-120"/>
              </a:rPr>
              <a:t>3NF პროცედურები</a:t>
            </a:r>
            <a:endParaRPr lang="en-US" sz="1200" dirty="0">
              <a:latin typeface="+mj-lt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013252" y="1841450"/>
            <a:ext cx="2634555" cy="11907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D7E5D8"/>
                </a:solidFill>
                <a:latin typeface="+mj-lt"/>
                <a:ea typeface="Syne" pitchFamily="34" charset="-122"/>
                <a:cs typeface="Syne" pitchFamily="34" charset="-120"/>
              </a:rPr>
              <a:t>ეშვება 3NF პროცედურები, რომლებიც წმენდს მონაცემებს, ახდენს დედუპლიკაციას და შეტვირთვას ნორმალიზებულ ფორმაში. პროცედურები უზრუნველყოფენ მონაცემთა ხარისხს.</a:t>
            </a:r>
            <a:endParaRPr lang="en-US" sz="950" dirty="0">
              <a:latin typeface="+mj-lt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96119" y="3249216"/>
            <a:ext cx="248022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D7E5D8"/>
                </a:solidFill>
                <a:latin typeface="+mj-lt"/>
                <a:ea typeface="Syne Light" pitchFamily="34" charset="-122"/>
                <a:cs typeface="Syne Light" pitchFamily="34" charset="-120"/>
              </a:rPr>
              <a:t>04</a:t>
            </a:r>
            <a:endParaRPr lang="en-US" sz="950" dirty="0">
              <a:latin typeface="+mj-lt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96119" y="3445669"/>
            <a:ext cx="4013820" cy="14288"/>
          </a:xfrm>
          <a:prstGeom prst="rect">
            <a:avLst/>
          </a:prstGeom>
          <a:solidFill>
            <a:srgbClr val="A9F00F"/>
          </a:solidFill>
          <a:ln/>
        </p:spPr>
      </p:sp>
      <p:sp>
        <p:nvSpPr>
          <p:cNvPr id="17" name="Text 15"/>
          <p:cNvSpPr/>
          <p:nvPr/>
        </p:nvSpPr>
        <p:spPr>
          <a:xfrm>
            <a:off x="496119" y="3536231"/>
            <a:ext cx="1960513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D7E5D8"/>
                </a:solidFill>
                <a:latin typeface="+mj-lt"/>
                <a:ea typeface="Syne ExtraBold" pitchFamily="34" charset="-122"/>
                <a:cs typeface="Syne ExtraBold" pitchFamily="34" charset="-120"/>
              </a:rPr>
              <a:t>DM DDL სკრიპტები</a:t>
            </a:r>
            <a:endParaRPr lang="en-US" sz="1200" dirty="0">
              <a:latin typeface="+mj-lt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496119" y="3804493"/>
            <a:ext cx="4013820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D7E5D8"/>
                </a:solidFill>
                <a:latin typeface="+mj-lt"/>
                <a:ea typeface="Syne" pitchFamily="34" charset="-122"/>
                <a:cs typeface="Syne" pitchFamily="34" charset="-120"/>
              </a:rPr>
              <a:t>ეშვება DM DDL სკრიპტები მონაცემთა ბაზის შესაქმნელად. იქმნება Star სქემა, რომელიც ოპტიმიზირებულია ანალიტიკისთვის და უშუალოდ უკავშირდება PowerBI-ს.</a:t>
            </a:r>
            <a:endParaRPr lang="en-US" sz="950" dirty="0">
              <a:latin typeface="+mj-lt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633913" y="3249216"/>
            <a:ext cx="248022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D7E5D8"/>
                </a:solidFill>
                <a:latin typeface="+mj-lt"/>
                <a:ea typeface="Syne Light" pitchFamily="34" charset="-122"/>
                <a:cs typeface="Syne Light" pitchFamily="34" charset="-120"/>
              </a:rPr>
              <a:t>05</a:t>
            </a:r>
            <a:endParaRPr lang="en-US" sz="950" dirty="0">
              <a:latin typeface="+mj-lt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4633913" y="3445669"/>
            <a:ext cx="4013895" cy="14288"/>
          </a:xfrm>
          <a:prstGeom prst="rect">
            <a:avLst/>
          </a:prstGeom>
          <a:solidFill>
            <a:srgbClr val="A9F00F"/>
          </a:solidFill>
          <a:ln/>
        </p:spPr>
      </p:sp>
      <p:sp>
        <p:nvSpPr>
          <p:cNvPr id="21" name="Text 19"/>
          <p:cNvSpPr/>
          <p:nvPr/>
        </p:nvSpPr>
        <p:spPr>
          <a:xfrm>
            <a:off x="4633913" y="3536231"/>
            <a:ext cx="1652215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D7E5D8"/>
                </a:solidFill>
                <a:latin typeface="+mj-lt"/>
                <a:ea typeface="Syne ExtraBold" pitchFamily="34" charset="-122"/>
                <a:cs typeface="Syne ExtraBold" pitchFamily="34" charset="-120"/>
              </a:rPr>
              <a:t>DM პროცედურები</a:t>
            </a:r>
            <a:endParaRPr lang="en-US" sz="1200" dirty="0">
              <a:latin typeface="+mj-lt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4633913" y="3804493"/>
            <a:ext cx="4013895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D7E5D8"/>
                </a:solidFill>
                <a:latin typeface="+mj-lt"/>
                <a:ea typeface="Syne" pitchFamily="34" charset="-122"/>
                <a:cs typeface="Syne" pitchFamily="34" charset="-120"/>
              </a:rPr>
              <a:t>ეშვება DM პროცედურები, რომლებიც ტვირთავენ მონაცემებს 3NF-დან DM განზომილებაში. ამ ეტაპზე მონაცემები მზად არის ანალიტიკური რეპორტისთვის.</a:t>
            </a:r>
            <a:endParaRPr lang="en-US" sz="950" dirty="0">
              <a:latin typeface="+mj-lt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7801113" y="4735320"/>
            <a:ext cx="1298713" cy="368424"/>
          </a:xfrm>
          <a:prstGeom prst="rect">
            <a:avLst/>
          </a:prstGeom>
          <a:solidFill>
            <a:srgbClr val="141E24"/>
          </a:solidFill>
          <a:ln>
            <a:solidFill>
              <a:srgbClr val="141E2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214363"/>
            <a:ext cx="5228779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F0F4F1"/>
                </a:solidFill>
                <a:latin typeface="+mj-lt"/>
                <a:ea typeface="Syne ExtraBold" pitchFamily="34" charset="-122"/>
                <a:cs typeface="Syne ExtraBold" pitchFamily="34" charset="-120"/>
              </a:rPr>
              <a:t>ინკრემენტალური შეტვირთვა</a:t>
            </a:r>
            <a:endParaRPr lang="en-US" sz="2400" dirty="0">
              <a:latin typeface="+mj-lt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06822" y="1787947"/>
            <a:ext cx="4103191" cy="2141116"/>
          </a:xfrm>
          <a:prstGeom prst="roundRect">
            <a:avLst>
              <a:gd name="adj" fmla="val 4171"/>
            </a:avLst>
          </a:prstGeom>
          <a:solidFill>
            <a:srgbClr val="547808">
              <a:alpha val="9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30796" y="1911921"/>
            <a:ext cx="2542208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F0F4F1"/>
                </a:solidFill>
                <a:latin typeface="+mj-lt"/>
                <a:ea typeface="Syne ExtraBold" pitchFamily="34" charset="-122"/>
                <a:cs typeface="Syne ExtraBold" pitchFamily="34" charset="-120"/>
              </a:rPr>
              <a:t>დატასეტების სტრუქტურა</a:t>
            </a:r>
            <a:endParaRPr lang="en-US" sz="1200" dirty="0">
              <a:latin typeface="+mj-lt"/>
            </a:endParaRPr>
          </a:p>
        </p:txBody>
      </p:sp>
      <p:sp>
        <p:nvSpPr>
          <p:cNvPr id="5" name="Text 3"/>
          <p:cNvSpPr/>
          <p:nvPr/>
        </p:nvSpPr>
        <p:spPr>
          <a:xfrm>
            <a:off x="530796" y="2229743"/>
            <a:ext cx="3855244" cy="992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+mj-lt"/>
                <a:ea typeface="Syne" pitchFamily="34" charset="-122"/>
                <a:cs typeface="Syne" pitchFamily="34" charset="-120"/>
              </a:rPr>
              <a:t>პროექტი შეიცავს ოთხ CSV დატასეტს: ორ შედარებით დიდ დატასეტს (offline და online) და ორ შედარებით მცირე </a:t>
            </a:r>
            <a:r>
              <a:rPr lang="en-US" sz="950" b="1" dirty="0">
                <a:solidFill>
                  <a:srgbClr val="FFFFFF"/>
                </a:solidFill>
                <a:latin typeface="+mj-lt"/>
                <a:ea typeface="Syne Bold" pitchFamily="34" charset="-122"/>
                <a:cs typeface="Syne Bold" pitchFamily="34" charset="-120"/>
              </a:rPr>
              <a:t>v2 დატასეტს</a:t>
            </a:r>
            <a:r>
              <a:rPr lang="en-US" sz="950" dirty="0">
                <a:solidFill>
                  <a:srgbClr val="FFFFFF"/>
                </a:solidFill>
                <a:latin typeface="+mj-lt"/>
                <a:ea typeface="Syne" pitchFamily="34" charset="-122"/>
                <a:cs typeface="Syne" pitchFamily="34" charset="-120"/>
              </a:rPr>
              <a:t>, რომლებიც შედარებით ნაკლები დატის შემცველია და განკუთვნილია ინკრემენტალური შეტვირთვისთვის.</a:t>
            </a:r>
            <a:endParaRPr lang="en-US" sz="950" dirty="0">
              <a:latin typeface="+mj-lt"/>
            </a:endParaRPr>
          </a:p>
        </p:txBody>
      </p:sp>
      <p:sp>
        <p:nvSpPr>
          <p:cNvPr id="6" name="Text 4"/>
          <p:cNvSpPr/>
          <p:nvPr/>
        </p:nvSpPr>
        <p:spPr>
          <a:xfrm>
            <a:off x="4728046" y="1911921"/>
            <a:ext cx="2848794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F0F4F1"/>
                </a:solidFill>
                <a:latin typeface="+mj-lt"/>
                <a:ea typeface="Syne ExtraBold" pitchFamily="34" charset="-122"/>
                <a:cs typeface="Syne ExtraBold" pitchFamily="34" charset="-120"/>
              </a:rPr>
              <a:t>შეტვირთვის თანმიმდევრობა</a:t>
            </a:r>
            <a:endParaRPr lang="en-US" sz="1200" dirty="0">
              <a:latin typeface="+mj-lt"/>
            </a:endParaRPr>
          </a:p>
        </p:txBody>
      </p:sp>
      <p:sp>
        <p:nvSpPr>
          <p:cNvPr id="7" name="Text 5"/>
          <p:cNvSpPr/>
          <p:nvPr/>
        </p:nvSpPr>
        <p:spPr>
          <a:xfrm>
            <a:off x="4728046" y="2229743"/>
            <a:ext cx="3924598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D7E5D8"/>
                </a:solidFill>
                <a:latin typeface="+mj-lt"/>
                <a:ea typeface="Syne" pitchFamily="34" charset="-122"/>
                <a:cs typeface="Syne" pitchFamily="34" charset="-120"/>
              </a:rPr>
              <a:t>პირველ რიგში ვტვირთავთ </a:t>
            </a:r>
            <a:r>
              <a:rPr lang="en-US" sz="950" b="1" dirty="0">
                <a:solidFill>
                  <a:srgbClr val="D7E5D8"/>
                </a:solidFill>
                <a:latin typeface="+mj-lt"/>
                <a:ea typeface="Syne Bold" pitchFamily="34" charset="-122"/>
                <a:cs typeface="Syne Bold" pitchFamily="34" charset="-120"/>
              </a:rPr>
              <a:t>v2 დატასეტებს</a:t>
            </a:r>
            <a:r>
              <a:rPr lang="en-US" sz="950" dirty="0">
                <a:solidFill>
                  <a:srgbClr val="D7E5D8"/>
                </a:solidFill>
                <a:latin typeface="+mj-lt"/>
                <a:ea typeface="Syne" pitchFamily="34" charset="-122"/>
                <a:cs typeface="Syne" pitchFamily="34" charset="-120"/>
              </a:rPr>
              <a:t> და ვასრულებთ ETL პროცესების სრულ გაშვებას — 3NF DDL, პროცედურები, ტრანზაქცია, შემდეგ DM DDL, პროცედურები და ტრანზაქცია. მხოლოდ ETL პროცესების სრულად დასრულების შემდეგ ვტვირთავთ დიდ დატასეტებს ინკრემენტალური load-ით. ეს მიდგომა საშუალებას გვაძლევს დავამტკიცოთ ETL პროცესების სისწორე და შემდეგ გავზარდოთ დატის მოცულობა.</a:t>
            </a:r>
            <a:endParaRPr lang="en-US" sz="950" dirty="0">
              <a:latin typeface="+mj-lt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801113" y="4735320"/>
            <a:ext cx="1298713" cy="368424"/>
          </a:xfrm>
          <a:prstGeom prst="rect">
            <a:avLst/>
          </a:prstGeom>
          <a:solidFill>
            <a:srgbClr val="141E24"/>
          </a:solidFill>
          <a:ln>
            <a:solidFill>
              <a:srgbClr val="141E2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47377"/>
            <a:ext cx="4757886" cy="3633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50" dirty="0">
                <a:solidFill>
                  <a:srgbClr val="F0F4F1"/>
                </a:solidFill>
                <a:latin typeface="+mj-lt"/>
                <a:ea typeface="Syne ExtraBold" pitchFamily="34" charset="-122"/>
                <a:cs typeface="Syne ExtraBold" pitchFamily="34" charset="-120"/>
              </a:rPr>
              <a:t>Dimensional მოდელი</a:t>
            </a:r>
            <a:endParaRPr lang="en-US" sz="2250" dirty="0">
              <a:latin typeface="+mj-lt"/>
            </a:endParaRPr>
          </a:p>
        </p:txBody>
      </p:sp>
      <p:sp>
        <p:nvSpPr>
          <p:cNvPr id="3" name="Text 1"/>
          <p:cNvSpPr/>
          <p:nvPr/>
        </p:nvSpPr>
        <p:spPr>
          <a:xfrm>
            <a:off x="496119" y="1028774"/>
            <a:ext cx="8151763" cy="3604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900" dirty="0">
                <a:solidFill>
                  <a:srgbClr val="D7E5D8"/>
                </a:solidFill>
                <a:latin typeface="+mj-lt"/>
                <a:ea typeface="Syne" pitchFamily="34" charset="-122"/>
                <a:cs typeface="Syne" pitchFamily="34" charset="-120"/>
              </a:rPr>
              <a:t>Dimensional მოდელი აგებულია Star სქემაზე, რომელიც ოპტიმიზირებულია ანალიტიკისთვის. ცენტრალური </a:t>
            </a:r>
            <a:r>
              <a:rPr lang="en-US" sz="900" b="1" dirty="0">
                <a:solidFill>
                  <a:srgbClr val="D7E5D8"/>
                </a:solidFill>
                <a:latin typeface="+mj-lt"/>
                <a:ea typeface="Syne Bold" pitchFamily="34" charset="-122"/>
                <a:cs typeface="Syne Bold" pitchFamily="34" charset="-120"/>
              </a:rPr>
              <a:t>fct_transactions</a:t>
            </a:r>
            <a:r>
              <a:rPr lang="en-US" sz="900" dirty="0">
                <a:solidFill>
                  <a:srgbClr val="D7E5D8"/>
                </a:solidFill>
                <a:latin typeface="+mj-lt"/>
                <a:ea typeface="Syne" pitchFamily="34" charset="-122"/>
                <a:cs typeface="Syne" pitchFamily="34" charset="-120"/>
              </a:rPr>
              <a:t> ცხრილი უკავშირდება ექვს განზომილებას, რომლებიც შეიცავს გაყიდვების ანალიზისთვის საჭირო ყველა დეტალს.</a:t>
            </a:r>
            <a:endParaRPr lang="en-US" sz="900" dirty="0">
              <a:latin typeface="+mj-lt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496119" y="1511871"/>
            <a:ext cx="4021336" cy="104879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83791" y="1642393"/>
            <a:ext cx="2721918" cy="181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D7E5D8"/>
                </a:solidFill>
                <a:latin typeface="+mj-lt"/>
                <a:ea typeface="Syne ExtraBold" pitchFamily="34" charset="-122"/>
                <a:cs typeface="Syne ExtraBold" pitchFamily="34" charset="-120"/>
              </a:rPr>
              <a:t>bl_dm.fct_transactions</a:t>
            </a:r>
            <a:endParaRPr lang="en-US" sz="1100" dirty="0">
              <a:latin typeface="+mj-lt"/>
            </a:endParaRPr>
          </a:p>
        </p:txBody>
      </p:sp>
      <p:sp>
        <p:nvSpPr>
          <p:cNvPr id="6" name="Text 3"/>
          <p:cNvSpPr/>
          <p:nvPr/>
        </p:nvSpPr>
        <p:spPr>
          <a:xfrm>
            <a:off x="683791" y="1889447"/>
            <a:ext cx="3703141" cy="5406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900" dirty="0">
                <a:solidFill>
                  <a:srgbClr val="D7E5D8"/>
                </a:solidFill>
                <a:latin typeface="+mj-lt"/>
                <a:ea typeface="Syne" pitchFamily="34" charset="-122"/>
                <a:cs typeface="Syne" pitchFamily="34" charset="-120"/>
              </a:rPr>
              <a:t>მოიცავს გაყიდვების, მოგების, წყაროს სისტემის და ტრანზაქციის დონის კალკულაციებს/მეტრიკებს — ფაქტების ცენტრალური ცხრილი</a:t>
            </a:r>
            <a:endParaRPr lang="en-US" sz="900" dirty="0">
              <a:latin typeface="+mj-lt"/>
            </a:endParaRPr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4626471" y="1511871"/>
            <a:ext cx="4021410" cy="104879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814143" y="1642393"/>
            <a:ext cx="3013621" cy="181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D7E5D8"/>
                </a:solidFill>
                <a:latin typeface="+mj-lt"/>
                <a:ea typeface="Syne ExtraBold" pitchFamily="34" charset="-122"/>
                <a:cs typeface="Syne ExtraBold" pitchFamily="34" charset="-120"/>
              </a:rPr>
              <a:t>bl_dm.dim_products_scd</a:t>
            </a:r>
            <a:endParaRPr lang="en-US" sz="1100" dirty="0">
              <a:latin typeface="+mj-lt"/>
            </a:endParaRPr>
          </a:p>
        </p:txBody>
      </p:sp>
      <p:sp>
        <p:nvSpPr>
          <p:cNvPr id="9" name="Text 5"/>
          <p:cNvSpPr/>
          <p:nvPr/>
        </p:nvSpPr>
        <p:spPr>
          <a:xfrm>
            <a:off x="4814143" y="1889447"/>
            <a:ext cx="3703216" cy="5406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900" dirty="0">
                <a:solidFill>
                  <a:srgbClr val="D7E5D8"/>
                </a:solidFill>
                <a:latin typeface="+mj-lt"/>
                <a:ea typeface="Syne" pitchFamily="34" charset="-122"/>
                <a:cs typeface="Syne" pitchFamily="34" charset="-120"/>
              </a:rPr>
              <a:t>პროდუქტის განზომილება, რომელიც შეიცავს კატეგორიას, ქვეკატეგორიასა და თვითონ პროდუქტს. ასევე შეიცავს </a:t>
            </a:r>
            <a:r>
              <a:rPr lang="en-US" sz="900" b="1" dirty="0">
                <a:solidFill>
                  <a:srgbClr val="D7E5D8"/>
                </a:solidFill>
                <a:latin typeface="+mj-lt"/>
                <a:ea typeface="Syne Bold" pitchFamily="34" charset="-122"/>
                <a:cs typeface="Syne Bold" pitchFamily="34" charset="-120"/>
              </a:rPr>
              <a:t>SCD ლოგიკას</a:t>
            </a:r>
            <a:r>
              <a:rPr lang="en-US" sz="900" dirty="0">
                <a:solidFill>
                  <a:srgbClr val="D7E5D8"/>
                </a:solidFill>
                <a:latin typeface="+mj-lt"/>
                <a:ea typeface="Syne" pitchFamily="34" charset="-122"/>
                <a:cs typeface="Syne" pitchFamily="34" charset="-120"/>
              </a:rPr>
              <a:t> — Slowly Changing Dimension-ის მხარდაჭერას</a:t>
            </a:r>
            <a:endParaRPr lang="en-US" sz="900" dirty="0">
              <a:latin typeface="+mj-lt"/>
            </a:endParaRPr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496119" y="2669679"/>
            <a:ext cx="4021336" cy="104879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83791" y="2800201"/>
            <a:ext cx="2672209" cy="181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D7E5D8"/>
                </a:solidFill>
                <a:latin typeface="+mj-lt"/>
                <a:ea typeface="Syne ExtraBold" pitchFamily="34" charset="-122"/>
                <a:cs typeface="Syne ExtraBold" pitchFamily="34" charset="-120"/>
              </a:rPr>
              <a:t>bl_dm.dim_employees</a:t>
            </a:r>
            <a:endParaRPr lang="en-US" sz="1100" dirty="0">
              <a:latin typeface="+mj-lt"/>
            </a:endParaRPr>
          </a:p>
        </p:txBody>
      </p:sp>
      <p:sp>
        <p:nvSpPr>
          <p:cNvPr id="12" name="Text 7"/>
          <p:cNvSpPr/>
          <p:nvPr/>
        </p:nvSpPr>
        <p:spPr>
          <a:xfrm>
            <a:off x="683791" y="3047256"/>
            <a:ext cx="3703141" cy="5406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900" dirty="0">
                <a:solidFill>
                  <a:srgbClr val="D7E5D8"/>
                </a:solidFill>
                <a:latin typeface="+mj-lt"/>
                <a:ea typeface="Syne" pitchFamily="34" charset="-122"/>
                <a:cs typeface="Syne" pitchFamily="34" charset="-120"/>
              </a:rPr>
              <a:t>თანამშრომლის განზომილება, რომელიც შეიცავს თანამშრომლებზე დეტალებს — სახელი, პოზიცია და სხვა ატრიბუტები</a:t>
            </a:r>
            <a:endParaRPr lang="en-US" sz="900" dirty="0">
              <a:latin typeface="+mj-lt"/>
            </a:endParaRPr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8"/>
              </a:ext>
            </a:extLst>
          </a:blip>
          <a:stretch>
            <a:fillRect/>
          </a:stretch>
        </p:blipFill>
        <p:spPr>
          <a:xfrm>
            <a:off x="4626471" y="2669679"/>
            <a:ext cx="4021410" cy="104879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814143" y="2800201"/>
            <a:ext cx="2636490" cy="181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D7E5D8"/>
                </a:solidFill>
                <a:latin typeface="+mj-lt"/>
                <a:ea typeface="Syne ExtraBold" pitchFamily="34" charset="-122"/>
                <a:cs typeface="Syne ExtraBold" pitchFamily="34" charset="-120"/>
              </a:rPr>
              <a:t>bl_dm.dim_customers</a:t>
            </a:r>
            <a:endParaRPr lang="en-US" sz="1100" dirty="0">
              <a:latin typeface="+mj-lt"/>
            </a:endParaRPr>
          </a:p>
        </p:txBody>
      </p:sp>
      <p:sp>
        <p:nvSpPr>
          <p:cNvPr id="15" name="Text 9"/>
          <p:cNvSpPr/>
          <p:nvPr/>
        </p:nvSpPr>
        <p:spPr>
          <a:xfrm>
            <a:off x="4814143" y="3047256"/>
            <a:ext cx="3703216" cy="5406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900" dirty="0">
                <a:solidFill>
                  <a:srgbClr val="D7E5D8"/>
                </a:solidFill>
                <a:latin typeface="+mj-lt"/>
                <a:ea typeface="Syne" pitchFamily="34" charset="-122"/>
                <a:cs typeface="Syne" pitchFamily="34" charset="-120"/>
              </a:rPr>
              <a:t>მომხმარებლების/კლიენტების განზომილება, რომელიც შეიცავს დეტალებს მომხმარებელზე — სახელი, ლოკაცია და სხვა ინფორმაცია</a:t>
            </a:r>
            <a:endParaRPr lang="en-US" sz="900" dirty="0">
              <a:latin typeface="+mj-lt"/>
            </a:endParaRPr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xmlns="" r:embed="rId10"/>
              </a:ext>
            </a:extLst>
          </a:blip>
          <a:stretch>
            <a:fillRect/>
          </a:stretch>
        </p:blipFill>
        <p:spPr>
          <a:xfrm>
            <a:off x="496119" y="3827487"/>
            <a:ext cx="4021336" cy="868561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683791" y="3958010"/>
            <a:ext cx="2108076" cy="181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D7E5D8"/>
                </a:solidFill>
                <a:latin typeface="+mj-lt"/>
                <a:ea typeface="Syne ExtraBold" pitchFamily="34" charset="-122"/>
                <a:cs typeface="Syne ExtraBold" pitchFamily="34" charset="-120"/>
              </a:rPr>
              <a:t>bl_dm.dim_stores</a:t>
            </a:r>
            <a:endParaRPr lang="en-US" sz="1100" dirty="0">
              <a:latin typeface="+mj-lt"/>
            </a:endParaRPr>
          </a:p>
        </p:txBody>
      </p:sp>
      <p:sp>
        <p:nvSpPr>
          <p:cNvPr id="18" name="Text 11"/>
          <p:cNvSpPr/>
          <p:nvPr/>
        </p:nvSpPr>
        <p:spPr>
          <a:xfrm>
            <a:off x="683791" y="4205064"/>
            <a:ext cx="3703141" cy="3604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900" dirty="0">
                <a:solidFill>
                  <a:srgbClr val="D7E5D8"/>
                </a:solidFill>
                <a:latin typeface="+mj-lt"/>
                <a:ea typeface="Syne" pitchFamily="34" charset="-122"/>
                <a:cs typeface="Syne" pitchFamily="34" charset="-120"/>
              </a:rPr>
              <a:t>ფიზიკური მაღაზიების განზომილება შესაბამისი დეტალებით — მაღაზიის სახელი, მისამართი და სხვა ატრიბუტები</a:t>
            </a:r>
            <a:endParaRPr lang="en-US" sz="900" dirty="0">
              <a:latin typeface="+mj-lt"/>
            </a:endParaRPr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xmlns="" r:embed="rId12"/>
              </a:ext>
            </a:extLst>
          </a:blip>
          <a:stretch>
            <a:fillRect/>
          </a:stretch>
        </p:blipFill>
        <p:spPr>
          <a:xfrm>
            <a:off x="4626471" y="3827487"/>
            <a:ext cx="4021410" cy="868561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4814143" y="3958010"/>
            <a:ext cx="2068785" cy="181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D7E5D8"/>
                </a:solidFill>
                <a:latin typeface="+mj-lt"/>
                <a:ea typeface="Syne ExtraBold" pitchFamily="34" charset="-122"/>
                <a:cs typeface="Syne ExtraBold" pitchFamily="34" charset="-120"/>
              </a:rPr>
              <a:t>bl_dm.dim_dates</a:t>
            </a:r>
            <a:endParaRPr lang="en-US" sz="1100" dirty="0">
              <a:latin typeface="+mj-lt"/>
            </a:endParaRPr>
          </a:p>
        </p:txBody>
      </p:sp>
      <p:sp>
        <p:nvSpPr>
          <p:cNvPr id="21" name="Text 13"/>
          <p:cNvSpPr/>
          <p:nvPr/>
        </p:nvSpPr>
        <p:spPr>
          <a:xfrm>
            <a:off x="4814143" y="4205064"/>
            <a:ext cx="3703216" cy="3604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900" dirty="0">
                <a:solidFill>
                  <a:srgbClr val="D7E5D8"/>
                </a:solidFill>
                <a:latin typeface="+mj-lt"/>
                <a:ea typeface="Syne" pitchFamily="34" charset="-122"/>
                <a:cs typeface="Syne" pitchFamily="34" charset="-120"/>
              </a:rPr>
              <a:t>თარიღების განზომილება — უზრუნველყოფს დროით ანალიზს გაყიდვების, მოგებისა და სხვა მეტრიკებისთვის</a:t>
            </a:r>
            <a:endParaRPr lang="en-US" sz="900" dirty="0">
              <a:latin typeface="+mj-lt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7801113" y="4735320"/>
            <a:ext cx="1298713" cy="368424"/>
          </a:xfrm>
          <a:prstGeom prst="rect">
            <a:avLst/>
          </a:prstGeom>
          <a:solidFill>
            <a:srgbClr val="141E24"/>
          </a:solidFill>
          <a:ln>
            <a:solidFill>
              <a:srgbClr val="141E2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6344" y="356592"/>
            <a:ext cx="4551313" cy="400332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4478015"/>
            <a:ext cx="2928417" cy="308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endParaRPr lang="en-US" sz="1900" dirty="0"/>
          </a:p>
        </p:txBody>
      </p:sp>
      <p:sp>
        <p:nvSpPr>
          <p:cNvPr id="4" name="Rectangle 3"/>
          <p:cNvSpPr/>
          <p:nvPr/>
        </p:nvSpPr>
        <p:spPr>
          <a:xfrm>
            <a:off x="7801113" y="4735320"/>
            <a:ext cx="1298713" cy="368424"/>
          </a:xfrm>
          <a:prstGeom prst="rect">
            <a:avLst/>
          </a:prstGeom>
          <a:solidFill>
            <a:srgbClr val="141E24"/>
          </a:solidFill>
          <a:ln>
            <a:solidFill>
              <a:srgbClr val="141E2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63959"/>
            <a:ext cx="4145979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F0F4F1"/>
                </a:solidFill>
                <a:latin typeface="+mj-lt"/>
                <a:ea typeface="Syne ExtraBold" pitchFamily="34" charset="-122"/>
                <a:cs typeface="Syne ExtraBold" pitchFamily="34" charset="-120"/>
              </a:rPr>
              <a:t>PowerBI რეპორტი</a:t>
            </a:r>
            <a:endParaRPr lang="en-US" sz="2400" dirty="0">
              <a:latin typeface="+mj-lt"/>
            </a:endParaRPr>
          </a:p>
        </p:txBody>
      </p:sp>
      <p:sp>
        <p:nvSpPr>
          <p:cNvPr id="3" name="Text 1"/>
          <p:cNvSpPr/>
          <p:nvPr/>
        </p:nvSpPr>
        <p:spPr>
          <a:xfrm>
            <a:off x="496119" y="999530"/>
            <a:ext cx="8151763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D7E5D8"/>
                </a:solidFill>
                <a:latin typeface="+mj-lt"/>
                <a:ea typeface="Syne" pitchFamily="34" charset="-122"/>
                <a:cs typeface="Syne" pitchFamily="34" charset="-120"/>
              </a:rPr>
              <a:t>PowerBI რეპორტი კავშირდება Dimensional მოდელთან და გვაძლევს საშუალებას შევქმნათ ანალიტიკური დეშბორდი. რეპორტი აჩვენებს გაყიდვების, პროდუქტებისა და თანამშრომლების ანალიზს — ონლაინ და ოფლაინ არხების გათვალისწინებით. დეშბორდი ვიზუალიზაციებს აგებს fct_transactions ფაქტების ცხრილზე დაყრდნობით, რომელიც უკავშირდება პროდუქტების, თანამშრომლების, მომხმარებლების, მაღაზიებისა და თარიღების განზომილებებს.</a:t>
            </a:r>
            <a:endParaRPr lang="en-US" sz="950" dirty="0">
              <a:latin typeface="+mj-lt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801113" y="4735320"/>
            <a:ext cx="1298713" cy="368424"/>
          </a:xfrm>
          <a:prstGeom prst="rect">
            <a:avLst/>
          </a:prstGeom>
          <a:solidFill>
            <a:srgbClr val="141E24"/>
          </a:solidFill>
          <a:ln>
            <a:solidFill>
              <a:srgbClr val="141E2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8" name="Picture 7"/>
          <p:cNvPicPr/>
          <p:nvPr/>
        </p:nvPicPr>
        <p:blipFill>
          <a:blip r:embed="rId3"/>
          <a:stretch>
            <a:fillRect/>
          </a:stretch>
        </p:blipFill>
        <p:spPr>
          <a:xfrm>
            <a:off x="496120" y="1899479"/>
            <a:ext cx="2635172" cy="1532834"/>
          </a:xfrm>
          <a:prstGeom prst="rect">
            <a:avLst/>
          </a:prstGeom>
        </p:spPr>
      </p:pic>
      <p:pic>
        <p:nvPicPr>
          <p:cNvPr id="9" name="Picture 8"/>
          <p:cNvPicPr/>
          <p:nvPr/>
        </p:nvPicPr>
        <p:blipFill>
          <a:blip r:embed="rId4"/>
          <a:stretch>
            <a:fillRect/>
          </a:stretch>
        </p:blipFill>
        <p:spPr>
          <a:xfrm>
            <a:off x="3254413" y="1899479"/>
            <a:ext cx="2635173" cy="1532834"/>
          </a:xfrm>
          <a:prstGeom prst="rect">
            <a:avLst/>
          </a:prstGeom>
        </p:spPr>
      </p:pic>
      <p:pic>
        <p:nvPicPr>
          <p:cNvPr id="10" name="Picture 9"/>
          <p:cNvPicPr/>
          <p:nvPr/>
        </p:nvPicPr>
        <p:blipFill>
          <a:blip r:embed="rId5"/>
          <a:stretch>
            <a:fillRect/>
          </a:stretch>
        </p:blipFill>
        <p:spPr>
          <a:xfrm>
            <a:off x="6012709" y="1899479"/>
            <a:ext cx="2635173" cy="153283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89037"/>
            <a:ext cx="7289304" cy="308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F0F4F1"/>
                </a:solidFill>
                <a:latin typeface="+mj-lt"/>
                <a:ea typeface="Syne ExtraBold" pitchFamily="34" charset="-122"/>
                <a:cs typeface="Syne ExtraBold" pitchFamily="34" charset="-120"/>
              </a:rPr>
              <a:t>შესრულებული სამუშაოები და ატვირთული ფაილები</a:t>
            </a:r>
            <a:endParaRPr lang="en-US" sz="1900" dirty="0">
              <a:latin typeface="+mj-lt"/>
            </a:endParaRPr>
          </a:p>
        </p:txBody>
      </p:sp>
      <p:sp>
        <p:nvSpPr>
          <p:cNvPr id="3" name="Text 1"/>
          <p:cNvSpPr/>
          <p:nvPr/>
        </p:nvSpPr>
        <p:spPr>
          <a:xfrm>
            <a:off x="496119" y="894755"/>
            <a:ext cx="1692771" cy="154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F0F4F1"/>
                </a:solidFill>
                <a:latin typeface="+mj-lt"/>
                <a:ea typeface="Syne ExtraBold" pitchFamily="34" charset="-122"/>
                <a:cs typeface="Syne ExtraBold" pitchFamily="34" charset="-120"/>
              </a:rPr>
              <a:t>შედეგები</a:t>
            </a:r>
            <a:endParaRPr lang="en-US" sz="950" dirty="0">
              <a:latin typeface="+mj-lt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96119" y="1137717"/>
            <a:ext cx="222349" cy="222349"/>
          </a:xfrm>
          <a:prstGeom prst="roundRect">
            <a:avLst>
              <a:gd name="adj" fmla="val 18672"/>
            </a:avLst>
          </a:prstGeom>
          <a:solidFill>
            <a:srgbClr val="547808"/>
          </a:solidFill>
          <a:ln w="4763">
            <a:solidFill>
              <a:srgbClr val="6D912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97198" y="1171649"/>
            <a:ext cx="1235571" cy="154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D7E5D8"/>
                </a:solidFill>
                <a:latin typeface="+mj-lt"/>
                <a:ea typeface="Syne ExtraBold" pitchFamily="34" charset="-122"/>
                <a:cs typeface="Syne ExtraBold" pitchFamily="34" charset="-120"/>
              </a:rPr>
              <a:t>მუშა პროდუქტი</a:t>
            </a:r>
            <a:endParaRPr lang="en-US" sz="950" dirty="0">
              <a:latin typeface="+mj-lt"/>
            </a:endParaRPr>
          </a:p>
        </p:txBody>
      </p:sp>
      <p:sp>
        <p:nvSpPr>
          <p:cNvPr id="6" name="Text 4"/>
          <p:cNvSpPr/>
          <p:nvPr/>
        </p:nvSpPr>
        <p:spPr>
          <a:xfrm>
            <a:off x="797198" y="1404789"/>
            <a:ext cx="3654251" cy="426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dirty="0">
                <a:solidFill>
                  <a:srgbClr val="D7E5D8"/>
                </a:solidFill>
                <a:latin typeface="+mj-lt"/>
                <a:ea typeface="Syne" pitchFamily="34" charset="-122"/>
                <a:cs typeface="Syne" pitchFamily="34" charset="-120"/>
              </a:rPr>
              <a:t>PostgreSQL ETL pipeline და PowerBI რეპორტი — სრული ETL და ანალიტიკური პროცესები დატასეტების მიღებიდან BI ვიზუალიზაციამდე</a:t>
            </a:r>
            <a:endParaRPr lang="en-US" sz="750" dirty="0">
              <a:latin typeface="+mj-lt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96119" y="1988493"/>
            <a:ext cx="222349" cy="222349"/>
          </a:xfrm>
          <a:prstGeom prst="roundRect">
            <a:avLst>
              <a:gd name="adj" fmla="val 18672"/>
            </a:avLst>
          </a:prstGeom>
          <a:solidFill>
            <a:srgbClr val="547808"/>
          </a:solidFill>
          <a:ln w="4763">
            <a:solidFill>
              <a:srgbClr val="6D912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7198" y="2022425"/>
            <a:ext cx="1235571" cy="154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D7E5D8"/>
                </a:solidFill>
                <a:latin typeface="+mj-lt"/>
                <a:ea typeface="Syne ExtraBold" pitchFamily="34" charset="-122"/>
                <a:cs typeface="Syne ExtraBold" pitchFamily="34" charset="-120"/>
              </a:rPr>
              <a:t>სორს კოდი</a:t>
            </a:r>
            <a:endParaRPr lang="en-US" sz="950" dirty="0">
              <a:latin typeface="+mj-lt"/>
            </a:endParaRPr>
          </a:p>
        </p:txBody>
      </p:sp>
      <p:sp>
        <p:nvSpPr>
          <p:cNvPr id="9" name="Text 7"/>
          <p:cNvSpPr/>
          <p:nvPr/>
        </p:nvSpPr>
        <p:spPr>
          <a:xfrm>
            <a:off x="797198" y="2255565"/>
            <a:ext cx="3654251" cy="2841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dirty="0">
                <a:solidFill>
                  <a:srgbClr val="D7E5D8"/>
                </a:solidFill>
                <a:latin typeface="+mj-lt"/>
                <a:ea typeface="Syne" pitchFamily="34" charset="-122"/>
                <a:cs typeface="Syne" pitchFamily="34" charset="-120"/>
              </a:rPr>
              <a:t>SQL სკრიპტები, 3NF მოდელი, data mart მოდელი და პროცედურები — ყველა საჭირო კომპონენტი ETL პროცესების გასაშვებად</a:t>
            </a:r>
            <a:endParaRPr lang="en-US" sz="750" dirty="0">
              <a:latin typeface="+mj-lt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96119" y="2697212"/>
            <a:ext cx="222349" cy="222349"/>
          </a:xfrm>
          <a:prstGeom prst="roundRect">
            <a:avLst>
              <a:gd name="adj" fmla="val 18672"/>
            </a:avLst>
          </a:prstGeom>
          <a:solidFill>
            <a:srgbClr val="547808"/>
          </a:solidFill>
          <a:ln w="4763">
            <a:solidFill>
              <a:srgbClr val="6D912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7198" y="2731145"/>
            <a:ext cx="1235571" cy="154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D7E5D8"/>
                </a:solidFill>
                <a:latin typeface="+mj-lt"/>
                <a:ea typeface="Syne ExtraBold" pitchFamily="34" charset="-122"/>
                <a:cs typeface="Syne ExtraBold" pitchFamily="34" charset="-120"/>
              </a:rPr>
              <a:t>დატასეტები</a:t>
            </a:r>
            <a:endParaRPr lang="en-US" sz="950" dirty="0">
              <a:latin typeface="+mj-lt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97198" y="2964284"/>
            <a:ext cx="3654251" cy="2841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dirty="0">
                <a:solidFill>
                  <a:srgbClr val="D7E5D8"/>
                </a:solidFill>
                <a:latin typeface="+mj-lt"/>
                <a:ea typeface="Syne" pitchFamily="34" charset="-122"/>
                <a:cs typeface="Syne" pitchFamily="34" charset="-120"/>
              </a:rPr>
              <a:t>Offline და online CSV დატასეტები, შედარებით ნაკლები დატის შემცველი v2 დატასეტები ინკრემენტალური შეტვირთვისთვის</a:t>
            </a:r>
            <a:endParaRPr lang="en-US" sz="750" dirty="0">
              <a:latin typeface="+mj-lt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96119" y="3405932"/>
            <a:ext cx="222349" cy="222349"/>
          </a:xfrm>
          <a:prstGeom prst="roundRect">
            <a:avLst>
              <a:gd name="adj" fmla="val 18672"/>
            </a:avLst>
          </a:prstGeom>
          <a:solidFill>
            <a:srgbClr val="547808"/>
          </a:solidFill>
          <a:ln w="4763">
            <a:solidFill>
              <a:srgbClr val="6D912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7198" y="3439864"/>
            <a:ext cx="1685479" cy="154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D7E5D8"/>
                </a:solidFill>
                <a:latin typeface="+mj-lt"/>
                <a:ea typeface="Syne ExtraBold" pitchFamily="34" charset="-122"/>
                <a:cs typeface="Syne ExtraBold" pitchFamily="34" charset="-120"/>
              </a:rPr>
              <a:t>ტექნიკური დოკუმენტაცია</a:t>
            </a:r>
            <a:endParaRPr lang="en-US" sz="950" dirty="0">
              <a:latin typeface="+mj-lt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97198" y="3673004"/>
            <a:ext cx="3654251" cy="2841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dirty="0">
                <a:solidFill>
                  <a:srgbClr val="D7E5D8"/>
                </a:solidFill>
                <a:latin typeface="+mj-lt"/>
                <a:ea typeface="Syne" pitchFamily="34" charset="-122"/>
                <a:cs typeface="Syne" pitchFamily="34" charset="-120"/>
              </a:rPr>
              <a:t>მონაცემთა არქიტექტურა, მოდელის ახსნა, ETL პროცესი, installation guide და user guide</a:t>
            </a:r>
            <a:endParaRPr lang="en-US" sz="750" dirty="0">
              <a:latin typeface="+mj-lt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96119" y="4114651"/>
            <a:ext cx="222349" cy="222349"/>
          </a:xfrm>
          <a:prstGeom prst="roundRect">
            <a:avLst>
              <a:gd name="adj" fmla="val 18672"/>
            </a:avLst>
          </a:prstGeom>
          <a:solidFill>
            <a:srgbClr val="547808"/>
          </a:solidFill>
          <a:ln w="4763">
            <a:solidFill>
              <a:srgbClr val="6D912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97198" y="4148584"/>
            <a:ext cx="1235571" cy="154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D7E5D8"/>
                </a:solidFill>
                <a:latin typeface="+mj-lt"/>
                <a:ea typeface="Syne ExtraBold" pitchFamily="34" charset="-122"/>
                <a:cs typeface="Syne ExtraBold" pitchFamily="34" charset="-120"/>
              </a:rPr>
              <a:t>პრეზენტაცია</a:t>
            </a:r>
            <a:endParaRPr lang="en-US" sz="950" dirty="0">
              <a:latin typeface="+mj-lt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797198" y="4381723"/>
            <a:ext cx="3654251" cy="2841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dirty="0">
                <a:solidFill>
                  <a:srgbClr val="D7E5D8"/>
                </a:solidFill>
                <a:latin typeface="+mj-lt"/>
                <a:ea typeface="Syne" pitchFamily="34" charset="-122"/>
                <a:cs typeface="Syne" pitchFamily="34" charset="-120"/>
              </a:rPr>
              <a:t>ETL პროცესების გაშვება და შექმნილი Data Warehouse-დან ამოღებული მონაცემებით შექმნილი რეპორტის ჩვენება/განხილვა</a:t>
            </a:r>
            <a:endParaRPr lang="en-US" sz="750" dirty="0">
              <a:latin typeface="+mj-lt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697313" y="894755"/>
            <a:ext cx="1880369" cy="154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F0F4F1"/>
                </a:solidFill>
                <a:latin typeface="+mj-lt"/>
                <a:ea typeface="Syne ExtraBold" pitchFamily="34" charset="-122"/>
                <a:cs typeface="Syne ExtraBold" pitchFamily="34" charset="-120"/>
              </a:rPr>
              <a:t>ატვირთული ფაილები</a:t>
            </a:r>
            <a:endParaRPr lang="en-US" sz="950" dirty="0">
              <a:latin typeface="+mj-lt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697313" y="1127894"/>
            <a:ext cx="3955331" cy="11595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 algn="l">
              <a:lnSpc>
                <a:spcPct val="120000"/>
              </a:lnSpc>
              <a:buSzPct val="100000"/>
              <a:buChar char="•"/>
            </a:pPr>
            <a:r>
              <a:rPr lang="en-US" sz="750" dirty="0">
                <a:solidFill>
                  <a:srgbClr val="D7E5D8"/>
                </a:solidFill>
                <a:latin typeface="+mj-lt"/>
                <a:ea typeface="Syne" pitchFamily="34" charset="-122"/>
                <a:cs typeface="Syne" pitchFamily="34" charset="-120"/>
              </a:rPr>
              <a:t>GLOBAL_SHOP_OFFLINE_SCRIPT.sql</a:t>
            </a:r>
            <a:endParaRPr lang="en-US" sz="750" dirty="0">
              <a:latin typeface="+mj-lt"/>
            </a:endParaRPr>
          </a:p>
          <a:p>
            <a:pPr marL="152400" indent="-152400" algn="l">
              <a:lnSpc>
                <a:spcPct val="120000"/>
              </a:lnSpc>
              <a:buSzPct val="100000"/>
              <a:buChar char="•"/>
            </a:pPr>
            <a:r>
              <a:rPr lang="en-US" sz="750" dirty="0">
                <a:solidFill>
                  <a:srgbClr val="D7E5D8"/>
                </a:solidFill>
                <a:latin typeface="+mj-lt"/>
                <a:ea typeface="Syne" pitchFamily="34" charset="-122"/>
                <a:cs typeface="Syne" pitchFamily="34" charset="-120"/>
              </a:rPr>
              <a:t>GLOBAL_SHOP_ONLINE_SCRIPT.sql</a:t>
            </a:r>
            <a:endParaRPr lang="en-US" sz="750" dirty="0">
              <a:latin typeface="+mj-lt"/>
            </a:endParaRPr>
          </a:p>
          <a:p>
            <a:pPr marL="152400" indent="-152400" algn="l">
              <a:lnSpc>
                <a:spcPct val="120000"/>
              </a:lnSpc>
              <a:buSzPct val="100000"/>
              <a:buChar char="•"/>
            </a:pPr>
            <a:r>
              <a:rPr lang="en-US" sz="750" dirty="0">
                <a:solidFill>
                  <a:srgbClr val="D7E5D8"/>
                </a:solidFill>
                <a:latin typeface="+mj-lt"/>
                <a:ea typeface="Syne" pitchFamily="34" charset="-122"/>
                <a:cs typeface="Syne" pitchFamily="34" charset="-120"/>
              </a:rPr>
              <a:t>3NF_DDL.sql, 3NF_PROCEDURES.sql, 3nf_transaction.sql</a:t>
            </a:r>
            <a:endParaRPr lang="en-US" sz="750" dirty="0">
              <a:latin typeface="+mj-lt"/>
            </a:endParaRPr>
          </a:p>
          <a:p>
            <a:pPr marL="152400" indent="-152400" algn="l">
              <a:lnSpc>
                <a:spcPct val="120000"/>
              </a:lnSpc>
              <a:buSzPct val="100000"/>
              <a:buChar char="•"/>
            </a:pPr>
            <a:r>
              <a:rPr lang="en-US" sz="750" dirty="0">
                <a:solidFill>
                  <a:srgbClr val="D7E5D8"/>
                </a:solidFill>
                <a:latin typeface="+mj-lt"/>
                <a:ea typeface="Syne" pitchFamily="34" charset="-122"/>
                <a:cs typeface="Syne" pitchFamily="34" charset="-120"/>
              </a:rPr>
              <a:t>DM_DDL.sql, DM_PROCEDURES.sql, dm_transaction.sql</a:t>
            </a:r>
            <a:endParaRPr lang="en-US" sz="750" dirty="0">
              <a:latin typeface="+mj-lt"/>
            </a:endParaRPr>
          </a:p>
          <a:p>
            <a:pPr marL="152400" indent="-152400" algn="l">
              <a:lnSpc>
                <a:spcPct val="120000"/>
              </a:lnSpc>
              <a:buSzPct val="100000"/>
              <a:buChar char="•"/>
            </a:pPr>
            <a:r>
              <a:rPr lang="en-US" sz="750" dirty="0">
                <a:solidFill>
                  <a:srgbClr val="D7E5D8"/>
                </a:solidFill>
                <a:latin typeface="+mj-lt"/>
                <a:ea typeface="Syne" pitchFamily="34" charset="-122"/>
                <a:cs typeface="Syne" pitchFamily="34" charset="-120"/>
              </a:rPr>
              <a:t>global_shop_offline.csv / global_shop_online.csv</a:t>
            </a:r>
            <a:endParaRPr lang="en-US" sz="750" dirty="0">
              <a:latin typeface="+mj-lt"/>
            </a:endParaRPr>
          </a:p>
          <a:p>
            <a:pPr marL="152400" indent="-152400" algn="l">
              <a:lnSpc>
                <a:spcPct val="120000"/>
              </a:lnSpc>
              <a:buSzPct val="100000"/>
              <a:buChar char="•"/>
            </a:pPr>
            <a:r>
              <a:rPr lang="en-US" sz="750" dirty="0">
                <a:solidFill>
                  <a:srgbClr val="D7E5D8"/>
                </a:solidFill>
                <a:latin typeface="+mj-lt"/>
                <a:ea typeface="Syne" pitchFamily="34" charset="-122"/>
                <a:cs typeface="Syne" pitchFamily="34" charset="-120"/>
              </a:rPr>
              <a:t>global_shop_offline_v2.csv / global_shop_online_v2.csv</a:t>
            </a:r>
            <a:endParaRPr lang="en-US" sz="750" dirty="0">
              <a:latin typeface="+mj-lt"/>
            </a:endParaRPr>
          </a:p>
          <a:p>
            <a:pPr marL="152400" indent="-152400" algn="l">
              <a:lnSpc>
                <a:spcPct val="120000"/>
              </a:lnSpc>
              <a:buSzPct val="100000"/>
              <a:buChar char="•"/>
            </a:pPr>
            <a:r>
              <a:rPr lang="en-US" sz="750" dirty="0">
                <a:solidFill>
                  <a:srgbClr val="D7E5D8"/>
                </a:solidFill>
                <a:latin typeface="+mj-lt"/>
                <a:ea typeface="Syne" pitchFamily="34" charset="-122"/>
                <a:cs typeface="Syne" pitchFamily="34" charset="-120"/>
              </a:rPr>
              <a:t>PowerBI Report.pbix</a:t>
            </a:r>
            <a:endParaRPr lang="en-US" sz="750" dirty="0">
              <a:latin typeface="+mj-lt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7801113" y="4735320"/>
            <a:ext cx="1298713" cy="368424"/>
          </a:xfrm>
          <a:prstGeom prst="rect">
            <a:avLst/>
          </a:prstGeom>
          <a:solidFill>
            <a:srgbClr val="141E24"/>
          </a:solidFill>
          <a:ln>
            <a:solidFill>
              <a:srgbClr val="141E2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48928"/>
            <a:ext cx="5445919" cy="3330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50" dirty="0">
                <a:solidFill>
                  <a:srgbClr val="F0F4F1"/>
                </a:solidFill>
                <a:latin typeface="+mj-lt"/>
                <a:ea typeface="Syne ExtraBold" pitchFamily="34" charset="-122"/>
                <a:cs typeface="Syne ExtraBold" pitchFamily="34" charset="-120"/>
              </a:rPr>
              <a:t>ინსტრუქცია და Source Code</a:t>
            </a:r>
            <a:endParaRPr lang="en-US" sz="2050" dirty="0">
              <a:latin typeface="+mj-lt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496119" y="865212"/>
            <a:ext cx="4030042" cy="10857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447144" y="945133"/>
            <a:ext cx="127918" cy="1598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+mj-lt"/>
                <a:ea typeface="Syne ExtraBold" pitchFamily="34" charset="-122"/>
                <a:cs typeface="Syne ExtraBold" pitchFamily="34" charset="-120"/>
              </a:rPr>
              <a:t>1</a:t>
            </a:r>
            <a:endParaRPr lang="en-US" sz="1000" dirty="0">
              <a:latin typeface="+mj-lt"/>
            </a:endParaRPr>
          </a:p>
        </p:txBody>
      </p:sp>
      <p:sp>
        <p:nvSpPr>
          <p:cNvPr id="5" name="Text 2"/>
          <p:cNvSpPr/>
          <p:nvPr/>
        </p:nvSpPr>
        <p:spPr>
          <a:xfrm>
            <a:off x="616967" y="1291530"/>
            <a:ext cx="2079799" cy="1665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D7E5D8"/>
                </a:solidFill>
                <a:latin typeface="+mj-lt"/>
                <a:ea typeface="Syne ExtraBold" pitchFamily="34" charset="-122"/>
                <a:cs typeface="Syne ExtraBold" pitchFamily="34" charset="-120"/>
              </a:rPr>
              <a:t>PostgreSQL მომზადება</a:t>
            </a:r>
            <a:endParaRPr lang="en-US" sz="1000" dirty="0">
              <a:latin typeface="+mj-lt"/>
            </a:endParaRPr>
          </a:p>
        </p:txBody>
      </p:sp>
      <p:sp>
        <p:nvSpPr>
          <p:cNvPr id="6" name="Text 3"/>
          <p:cNvSpPr/>
          <p:nvPr/>
        </p:nvSpPr>
        <p:spPr>
          <a:xfrm>
            <a:off x="616967" y="1512987"/>
            <a:ext cx="3788346" cy="1585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800" dirty="0">
                <a:solidFill>
                  <a:srgbClr val="D7E5D8"/>
                </a:solidFill>
                <a:latin typeface="+mj-lt"/>
                <a:ea typeface="Syne" pitchFamily="34" charset="-122"/>
                <a:cs typeface="Syne" pitchFamily="34" charset="-120"/>
              </a:rPr>
              <a:t>პროექტისთვის საჭიროა ჩაწერილი იყოს PostgreSQL</a:t>
            </a:r>
            <a:endParaRPr lang="en-US" sz="800" dirty="0">
              <a:latin typeface="+mj-lt"/>
            </a:endParaRPr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4617765" y="865212"/>
            <a:ext cx="4030117" cy="108577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568864" y="945133"/>
            <a:ext cx="127918" cy="1598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+mj-lt"/>
                <a:ea typeface="Syne ExtraBold" pitchFamily="34" charset="-122"/>
                <a:cs typeface="Syne ExtraBold" pitchFamily="34" charset="-120"/>
              </a:rPr>
              <a:t>2</a:t>
            </a:r>
            <a:endParaRPr lang="en-US" sz="1000" dirty="0">
              <a:latin typeface="+mj-lt"/>
            </a:endParaRPr>
          </a:p>
        </p:txBody>
      </p:sp>
      <p:sp>
        <p:nvSpPr>
          <p:cNvPr id="9" name="Text 5"/>
          <p:cNvSpPr/>
          <p:nvPr/>
        </p:nvSpPr>
        <p:spPr>
          <a:xfrm>
            <a:off x="4738613" y="1291530"/>
            <a:ext cx="2077269" cy="1665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D7E5D8"/>
                </a:solidFill>
                <a:latin typeface="+mj-lt"/>
                <a:ea typeface="Syne ExtraBold" pitchFamily="34" charset="-122"/>
                <a:cs typeface="Syne ExtraBold" pitchFamily="34" charset="-120"/>
              </a:rPr>
              <a:t>CSV ფაილების განთავსება</a:t>
            </a:r>
            <a:endParaRPr lang="en-US" sz="1000" dirty="0">
              <a:latin typeface="+mj-lt"/>
            </a:endParaRPr>
          </a:p>
        </p:txBody>
      </p:sp>
      <p:sp>
        <p:nvSpPr>
          <p:cNvPr id="10" name="Text 6"/>
          <p:cNvSpPr/>
          <p:nvPr/>
        </p:nvSpPr>
        <p:spPr>
          <a:xfrm>
            <a:off x="4738613" y="1512987"/>
            <a:ext cx="3788420" cy="3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800" dirty="0">
                <a:solidFill>
                  <a:srgbClr val="D7E5D8"/>
                </a:solidFill>
                <a:latin typeface="+mj-lt"/>
                <a:ea typeface="Syne" pitchFamily="34" charset="-122"/>
                <a:cs typeface="Syne" pitchFamily="34" charset="-120"/>
              </a:rPr>
              <a:t>CSV სორს მონაცემები უნდა იყოს ატვირთული ხელმისაწვდომ დირექტორიში</a:t>
            </a:r>
            <a:endParaRPr lang="en-US" sz="800" dirty="0">
              <a:latin typeface="+mj-lt"/>
            </a:endParaRPr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496119" y="2042592"/>
            <a:ext cx="4030042" cy="108577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2447144" y="2122512"/>
            <a:ext cx="127918" cy="1598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+mj-lt"/>
                <a:ea typeface="Syne ExtraBold" pitchFamily="34" charset="-122"/>
                <a:cs typeface="Syne ExtraBold" pitchFamily="34" charset="-120"/>
              </a:rPr>
              <a:t>3</a:t>
            </a:r>
            <a:endParaRPr lang="en-US" sz="1000" dirty="0">
              <a:latin typeface="+mj-lt"/>
            </a:endParaRPr>
          </a:p>
        </p:txBody>
      </p:sp>
      <p:sp>
        <p:nvSpPr>
          <p:cNvPr id="13" name="Text 8"/>
          <p:cNvSpPr/>
          <p:nvPr/>
        </p:nvSpPr>
        <p:spPr>
          <a:xfrm>
            <a:off x="616967" y="2468910"/>
            <a:ext cx="1535832" cy="1665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D7E5D8"/>
                </a:solidFill>
                <a:latin typeface="+mj-lt"/>
                <a:ea typeface="Syne ExtraBold" pitchFamily="34" charset="-122"/>
                <a:cs typeface="Syne ExtraBold" pitchFamily="34" charset="-120"/>
              </a:rPr>
              <a:t>Source სკრიპტები</a:t>
            </a:r>
            <a:endParaRPr lang="en-US" sz="1000" dirty="0">
              <a:latin typeface="+mj-lt"/>
            </a:endParaRPr>
          </a:p>
        </p:txBody>
      </p:sp>
      <p:sp>
        <p:nvSpPr>
          <p:cNvPr id="14" name="Text 9"/>
          <p:cNvSpPr/>
          <p:nvPr/>
        </p:nvSpPr>
        <p:spPr>
          <a:xfrm>
            <a:off x="616967" y="2690366"/>
            <a:ext cx="3788346" cy="3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800" dirty="0">
                <a:solidFill>
                  <a:srgbClr val="D7E5D8"/>
                </a:solidFill>
                <a:latin typeface="+mj-lt"/>
                <a:ea typeface="Syne" pitchFamily="34" charset="-122"/>
                <a:cs typeface="Syne" pitchFamily="34" charset="-120"/>
              </a:rPr>
              <a:t>გავუშვათ GLOBAL_SHOP_OFFLINE_SCRIPT.sql და GLOBAL_SHOP_ONLINE_SCRIPT.sql</a:t>
            </a:r>
            <a:endParaRPr lang="en-US" sz="800" dirty="0">
              <a:latin typeface="+mj-lt"/>
            </a:endParaRPr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8"/>
              </a:ext>
            </a:extLst>
          </a:blip>
          <a:stretch>
            <a:fillRect/>
          </a:stretch>
        </p:blipFill>
        <p:spPr>
          <a:xfrm>
            <a:off x="4617765" y="2042592"/>
            <a:ext cx="4030117" cy="1085776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568864" y="2122512"/>
            <a:ext cx="127918" cy="1598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+mj-lt"/>
                <a:ea typeface="Syne ExtraBold" pitchFamily="34" charset="-122"/>
                <a:cs typeface="Syne ExtraBold" pitchFamily="34" charset="-120"/>
              </a:rPr>
              <a:t>4</a:t>
            </a:r>
            <a:endParaRPr lang="en-US" sz="1000" dirty="0">
              <a:latin typeface="+mj-lt"/>
            </a:endParaRPr>
          </a:p>
        </p:txBody>
      </p:sp>
      <p:sp>
        <p:nvSpPr>
          <p:cNvPr id="17" name="Text 11"/>
          <p:cNvSpPr/>
          <p:nvPr/>
        </p:nvSpPr>
        <p:spPr>
          <a:xfrm>
            <a:off x="4738613" y="2468910"/>
            <a:ext cx="1332458" cy="1665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D7E5D8"/>
                </a:solidFill>
                <a:latin typeface="+mj-lt"/>
                <a:ea typeface="Syne ExtraBold" pitchFamily="34" charset="-122"/>
                <a:cs typeface="Syne ExtraBold" pitchFamily="34" charset="-120"/>
              </a:rPr>
              <a:t>3NF ფენა</a:t>
            </a:r>
            <a:endParaRPr lang="en-US" sz="1000" dirty="0">
              <a:latin typeface="+mj-lt"/>
            </a:endParaRPr>
          </a:p>
        </p:txBody>
      </p:sp>
      <p:sp>
        <p:nvSpPr>
          <p:cNvPr id="18" name="Text 12"/>
          <p:cNvSpPr/>
          <p:nvPr/>
        </p:nvSpPr>
        <p:spPr>
          <a:xfrm>
            <a:off x="4738613" y="2690366"/>
            <a:ext cx="3788420" cy="3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800" dirty="0">
                <a:solidFill>
                  <a:srgbClr val="D7E5D8"/>
                </a:solidFill>
                <a:latin typeface="+mj-lt"/>
                <a:ea typeface="Syne" pitchFamily="34" charset="-122"/>
                <a:cs typeface="Syne" pitchFamily="34" charset="-120"/>
              </a:rPr>
              <a:t>გავუშვათ 3NF_DDL.sql, 3NF_PROCEDURES.sql და შემდეგ 3nf_transaction.sql</a:t>
            </a:r>
            <a:endParaRPr lang="en-US" sz="800" dirty="0">
              <a:latin typeface="+mj-lt"/>
            </a:endParaRPr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10"/>
              </a:ext>
            </a:extLst>
          </a:blip>
          <a:stretch>
            <a:fillRect/>
          </a:stretch>
        </p:blipFill>
        <p:spPr>
          <a:xfrm>
            <a:off x="496119" y="3219971"/>
            <a:ext cx="4030042" cy="1085776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2447144" y="3299892"/>
            <a:ext cx="127918" cy="1598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+mj-lt"/>
                <a:ea typeface="Syne ExtraBold" pitchFamily="34" charset="-122"/>
                <a:cs typeface="Syne ExtraBold" pitchFamily="34" charset="-120"/>
              </a:rPr>
              <a:t>5</a:t>
            </a:r>
            <a:endParaRPr lang="en-US" sz="1000" dirty="0">
              <a:latin typeface="+mj-lt"/>
            </a:endParaRPr>
          </a:p>
        </p:txBody>
      </p:sp>
      <p:sp>
        <p:nvSpPr>
          <p:cNvPr id="21" name="Text 14"/>
          <p:cNvSpPr/>
          <p:nvPr/>
        </p:nvSpPr>
        <p:spPr>
          <a:xfrm>
            <a:off x="616967" y="3646289"/>
            <a:ext cx="1332458" cy="1665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D7E5D8"/>
                </a:solidFill>
                <a:latin typeface="+mj-lt"/>
                <a:ea typeface="Syne ExtraBold" pitchFamily="34" charset="-122"/>
                <a:cs typeface="Syne ExtraBold" pitchFamily="34" charset="-120"/>
              </a:rPr>
              <a:t>DM ფენა</a:t>
            </a:r>
            <a:endParaRPr lang="en-US" sz="1000" dirty="0">
              <a:latin typeface="+mj-lt"/>
            </a:endParaRPr>
          </a:p>
        </p:txBody>
      </p:sp>
      <p:sp>
        <p:nvSpPr>
          <p:cNvPr id="22" name="Text 15"/>
          <p:cNvSpPr/>
          <p:nvPr/>
        </p:nvSpPr>
        <p:spPr>
          <a:xfrm>
            <a:off x="616967" y="3867745"/>
            <a:ext cx="3788346" cy="3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800" dirty="0">
                <a:solidFill>
                  <a:srgbClr val="D7E5D8"/>
                </a:solidFill>
                <a:latin typeface="+mj-lt"/>
                <a:ea typeface="Syne" pitchFamily="34" charset="-122"/>
                <a:cs typeface="Syne" pitchFamily="34" charset="-120"/>
              </a:rPr>
              <a:t>გავუშვათ DM_DDL.sql, DM_PROCEDURES.sql და შემდეგ dm_transaction.sql</a:t>
            </a:r>
            <a:endParaRPr lang="en-US" sz="800" dirty="0">
              <a:latin typeface="+mj-lt"/>
            </a:endParaRPr>
          </a:p>
        </p:txBody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12"/>
              </a:ext>
            </a:extLst>
          </a:blip>
          <a:stretch>
            <a:fillRect/>
          </a:stretch>
        </p:blipFill>
        <p:spPr>
          <a:xfrm>
            <a:off x="4617765" y="3219971"/>
            <a:ext cx="4030117" cy="1085776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6568864" y="3299892"/>
            <a:ext cx="127918" cy="1598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+mj-lt"/>
                <a:ea typeface="Syne ExtraBold" pitchFamily="34" charset="-122"/>
                <a:cs typeface="Syne ExtraBold" pitchFamily="34" charset="-120"/>
              </a:rPr>
              <a:t>6</a:t>
            </a:r>
            <a:endParaRPr lang="en-US" sz="1000" dirty="0">
              <a:latin typeface="+mj-lt"/>
            </a:endParaRPr>
          </a:p>
        </p:txBody>
      </p:sp>
      <p:sp>
        <p:nvSpPr>
          <p:cNvPr id="25" name="Text 17"/>
          <p:cNvSpPr/>
          <p:nvPr/>
        </p:nvSpPr>
        <p:spPr>
          <a:xfrm>
            <a:off x="4738613" y="3646289"/>
            <a:ext cx="1397422" cy="1665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D7E5D8"/>
                </a:solidFill>
                <a:latin typeface="+mj-lt"/>
                <a:ea typeface="Syne ExtraBold" pitchFamily="34" charset="-122"/>
                <a:cs typeface="Syne ExtraBold" pitchFamily="34" charset="-120"/>
              </a:rPr>
              <a:t>PowerBI გახსნა</a:t>
            </a:r>
            <a:endParaRPr lang="en-US" sz="1000" dirty="0">
              <a:latin typeface="+mj-lt"/>
            </a:endParaRPr>
          </a:p>
        </p:txBody>
      </p:sp>
      <p:sp>
        <p:nvSpPr>
          <p:cNvPr id="26" name="Text 18"/>
          <p:cNvSpPr/>
          <p:nvPr/>
        </p:nvSpPr>
        <p:spPr>
          <a:xfrm>
            <a:off x="4738613" y="3867745"/>
            <a:ext cx="3788420" cy="1585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800" dirty="0">
                <a:solidFill>
                  <a:srgbClr val="D7E5D8"/>
                </a:solidFill>
                <a:latin typeface="+mj-lt"/>
                <a:ea typeface="Syne" pitchFamily="34" charset="-122"/>
                <a:cs typeface="Syne" pitchFamily="34" charset="-120"/>
              </a:rPr>
              <a:t>გავხსნათ PowerBI Report.pbix PowerBI Desktop-ში</a:t>
            </a:r>
            <a:endParaRPr lang="en-US" sz="800" dirty="0">
              <a:latin typeface="+mj-lt"/>
            </a:endParaRPr>
          </a:p>
        </p:txBody>
      </p:sp>
      <p:sp>
        <p:nvSpPr>
          <p:cNvPr id="27" name="Shape 19"/>
          <p:cNvSpPr/>
          <p:nvPr/>
        </p:nvSpPr>
        <p:spPr>
          <a:xfrm>
            <a:off x="496119" y="4408736"/>
            <a:ext cx="8151763" cy="385837"/>
          </a:xfrm>
          <a:prstGeom prst="roundRect">
            <a:avLst>
              <a:gd name="adj" fmla="val 11604"/>
            </a:avLst>
          </a:prstGeom>
          <a:solidFill>
            <a:srgbClr val="547808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02679" y="4558233"/>
            <a:ext cx="133201" cy="106561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842442" y="4526979"/>
            <a:ext cx="8156079" cy="1585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+mj-lt"/>
                <a:ea typeface="Syne Bold" pitchFamily="34" charset="-122"/>
                <a:cs typeface="Syne Bold" pitchFamily="34" charset="-120"/>
              </a:rPr>
              <a:t>GitHub რეპოზიტორია (Source Code):</a:t>
            </a:r>
            <a:r>
              <a:rPr lang="en-US" sz="800" dirty="0">
                <a:solidFill>
                  <a:srgbClr val="FFFFFF"/>
                </a:solidFill>
                <a:latin typeface="+mj-lt"/>
                <a:ea typeface="Syne" pitchFamily="34" charset="-122"/>
                <a:cs typeface="Syne" pitchFamily="34" charset="-120"/>
              </a:rPr>
              <a:t> </a:t>
            </a:r>
            <a:r>
              <a:rPr lang="en-US" sz="800" b="1" u="sng" dirty="0">
                <a:solidFill>
                  <a:srgbClr val="A9F00F"/>
                </a:solidFill>
                <a:latin typeface="+mj-lt"/>
                <a:ea typeface="Syne Bold" pitchFamily="34" charset="-122"/>
                <a:cs typeface="Syne Bold" pitchFamily="34" charset="-120"/>
                <a:hlinkClick r:id="rId14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https://github.com/C0deWorm/Bachelors_Project_Gocha_Tetruashvili.git</a:t>
            </a:r>
            <a:endParaRPr lang="en-US" sz="800" dirty="0">
              <a:latin typeface="+mj-lt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7801113" y="4837043"/>
            <a:ext cx="1298713" cy="266701"/>
          </a:xfrm>
          <a:prstGeom prst="rect">
            <a:avLst/>
          </a:prstGeom>
          <a:solidFill>
            <a:srgbClr val="141E24"/>
          </a:solidFill>
          <a:ln>
            <a:solidFill>
              <a:srgbClr val="141E2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A9F00F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151</TotalTime>
  <Words>874</Words>
  <Application>Microsoft Office PowerPoint</Application>
  <PresentationFormat>On-screen Show (16:9)</PresentationFormat>
  <Paragraphs>116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0" baseType="lpstr">
      <vt:lpstr>Arial</vt:lpstr>
      <vt:lpstr>Syne Bold</vt:lpstr>
      <vt:lpstr>Syne Light</vt:lpstr>
      <vt:lpstr>Calibri Light</vt:lpstr>
      <vt:lpstr>Syne</vt:lpstr>
      <vt:lpstr>Calibri</vt:lpstr>
      <vt:lpstr>Syne ExtraBold</vt:lpstr>
      <vt:lpstr>Sylfaen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lastModifiedBy>user</cp:lastModifiedBy>
  <cp:revision>6</cp:revision>
  <dcterms:created xsi:type="dcterms:W3CDTF">2026-07-02T16:37:06Z</dcterms:created>
  <dcterms:modified xsi:type="dcterms:W3CDTF">2026-07-02T20:55:14Z</dcterms:modified>
</cp:coreProperties>
</file>